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0" y="0"/>
            <a:ext cx="4876495" cy="6858000"/>
          </a:xfrm>
          <a:prstGeom prst="rect">
            <a:avLst/>
          </a:prstGeom>
          <a:gradFill rotWithShape="1">
            <a:gsLst>
              <a:gs pos="0">
                <a:srgbClr val="37005C"/>
              </a:gs>
              <a:gs pos="55000">
                <a:srgbClr val="A100FF"/>
              </a:gs>
              <a:gs pos="100000">
                <a:srgbClr val="37005C"/>
              </a:gs>
            </a:gsLst>
            <a:lin ang="36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evron 3"/>
          <p:cNvSpPr/>
          <p:nvPr/>
        </p:nvSpPr>
        <p:spPr>
          <a:xfrm>
            <a:off x="9509760" y="914400"/>
            <a:ext cx="2194560" cy="4937760"/>
          </a:xfrm>
          <a:prstGeom prst="chevron">
            <a:avLst/>
          </a:prstGeom>
          <a:solidFill>
            <a:srgbClr val="FFFFFF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evron 4"/>
          <p:cNvSpPr/>
          <p:nvPr/>
        </p:nvSpPr>
        <p:spPr>
          <a:xfrm>
            <a:off x="10515600" y="914400"/>
            <a:ext cx="2194560" cy="4937760"/>
          </a:xfrm>
          <a:prstGeom prst="chevron">
            <a:avLst/>
          </a:prstGeom>
          <a:solidFill>
            <a:srgbClr val="FFFFFF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11521440" y="914400"/>
            <a:ext cx="2194560" cy="4937760"/>
          </a:xfrm>
          <a:prstGeom prst="chevron">
            <a:avLst/>
          </a:prstGeom>
          <a:solidFill>
            <a:srgbClr val="FFFFFF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hevron 6"/>
          <p:cNvSpPr/>
          <p:nvPr/>
        </p:nvSpPr>
        <p:spPr>
          <a:xfrm>
            <a:off x="566928" y="1417320"/>
            <a:ext cx="420624" cy="420624"/>
          </a:xfrm>
          <a:prstGeom prst="chevron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993392"/>
            <a:ext cx="65836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0" b="1" i="0">
                <a:solidFill>
                  <a:srgbClr val="1A1A1A"/>
                </a:solidFill>
                <a:latin typeface="Arial"/>
              </a:rPr>
              <a:t>ARGUS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" y="3200400"/>
            <a:ext cx="2377440" cy="5080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3401568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300" b="1" i="0">
                <a:solidFill>
                  <a:srgbClr val="6A00C9"/>
                </a:solidFill>
                <a:latin typeface="Arial"/>
              </a:rPr>
              <a:t>Adaptive AI Security Platform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069080"/>
            <a:ext cx="6400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666666"/>
                </a:solidFill>
                <a:latin typeface="Arial"/>
              </a:rPr>
              <a:t>Find vulnerabilities faster. Understand them in context. Fix them with AI — under a hard cost budget you control.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40680"/>
            <a:ext cx="804672" cy="384048"/>
          </a:xfrm>
          <a:prstGeom prst="roundRect">
            <a:avLst>
              <a:gd name="adj" fmla="val 50000"/>
            </a:avLst>
          </a:prstGeom>
          <a:solidFill>
            <a:srgbClr val="F4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5440680"/>
            <a:ext cx="8046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6A00C9"/>
                </a:solidFill>
                <a:latin typeface="Arial"/>
              </a:rPr>
              <a:t>SAST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481328" y="5440680"/>
            <a:ext cx="699516" cy="384048"/>
          </a:xfrm>
          <a:prstGeom prst="roundRect">
            <a:avLst>
              <a:gd name="adj" fmla="val 50000"/>
            </a:avLst>
          </a:prstGeom>
          <a:solidFill>
            <a:srgbClr val="F4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81328" y="5440680"/>
            <a:ext cx="69951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6A00C9"/>
                </a:solidFill>
                <a:latin typeface="Arial"/>
              </a:rPr>
              <a:t>SCA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290572" y="5440680"/>
            <a:ext cx="1120140" cy="384048"/>
          </a:xfrm>
          <a:prstGeom prst="roundRect">
            <a:avLst>
              <a:gd name="adj" fmla="val 50000"/>
            </a:avLst>
          </a:prstGeom>
          <a:solidFill>
            <a:srgbClr val="F4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290572" y="5440680"/>
            <a:ext cx="11201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6A00C9"/>
                </a:solidFill>
                <a:latin typeface="Arial"/>
              </a:rPr>
              <a:t>Secrets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520440" y="5440680"/>
            <a:ext cx="699516" cy="384048"/>
          </a:xfrm>
          <a:prstGeom prst="roundRect">
            <a:avLst>
              <a:gd name="adj" fmla="val 50000"/>
            </a:avLst>
          </a:prstGeom>
          <a:solidFill>
            <a:srgbClr val="F4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0440" y="5440680"/>
            <a:ext cx="69951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6A00C9"/>
                </a:solidFill>
                <a:latin typeface="Arial"/>
              </a:rPr>
              <a:t>IaC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29684" y="5440680"/>
            <a:ext cx="804672" cy="384048"/>
          </a:xfrm>
          <a:prstGeom prst="roundRect">
            <a:avLst>
              <a:gd name="adj" fmla="val 50000"/>
            </a:avLst>
          </a:prstGeom>
          <a:solidFill>
            <a:srgbClr val="F4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29684" y="5440680"/>
            <a:ext cx="8046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6A00C9"/>
                </a:solidFill>
                <a:latin typeface="Arial"/>
              </a:rPr>
              <a:t>DAST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44084" y="5440680"/>
            <a:ext cx="1856232" cy="384048"/>
          </a:xfrm>
          <a:prstGeom prst="roundRect">
            <a:avLst>
              <a:gd name="adj" fmla="val 50000"/>
            </a:avLst>
          </a:prstGeom>
          <a:solidFill>
            <a:srgbClr val="F4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44084" y="5440680"/>
            <a:ext cx="185623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6A00C9"/>
                </a:solidFill>
                <a:latin typeface="Arial"/>
              </a:rPr>
              <a:t>AI Remediation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0" y="5897880"/>
            <a:ext cx="48764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ECD6FF"/>
                </a:solidFill>
                <a:latin typeface="Arial"/>
              </a:rPr>
              <a:t>Provider-agnostic  ·  Cost-aware  ·  Enterprise-ready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502920"/>
            <a:ext cx="45107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Accenture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evron 2"/>
          <p:cNvSpPr/>
          <p:nvPr/>
        </p:nvSpPr>
        <p:spPr>
          <a:xfrm>
            <a:off x="566928" y="475488"/>
            <a:ext cx="182880" cy="182880"/>
          </a:xfrm>
          <a:prstGeom prst="chevron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A100FF"/>
                </a:solidFill>
                <a:latin typeface="Arial"/>
              </a:rPr>
              <a:t>EXECUTIVE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1A1A1A"/>
                </a:solidFill>
                <a:latin typeface="Arial"/>
              </a:rPr>
              <a:t>Security that keeps up — without runaway cost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89888"/>
            <a:ext cx="11057839" cy="17780"/>
          </a:xfrm>
          <a:prstGeom prst="rect">
            <a:avLst/>
          </a:prstGeom>
          <a:solidFill>
            <a:srgbClr val="E4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27632"/>
            <a:ext cx="11057839" cy="1325880"/>
          </a:xfrm>
          <a:prstGeom prst="roundRect">
            <a:avLst>
              <a:gd name="adj" fmla="val 7000"/>
            </a:avLst>
          </a:prstGeom>
          <a:solidFill>
            <a:srgbClr val="F4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1627632"/>
            <a:ext cx="10417759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A1A1A"/>
                </a:solidFill>
                <a:latin typeface="Arial"/>
              </a:rPr>
              <a:t>Argus unifies six industry-standard security scanners and a team of AI agents behind one API. It finds real vulnerabilities, explains them in plain language, writes the fix — and meters every AI dollar so security at scale never becomes a budget surprise.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3246120"/>
            <a:ext cx="3472586" cy="27432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68096" y="3465576"/>
            <a:ext cx="566928" cy="566928"/>
          </a:xfrm>
          <a:prstGeom prst="roundRect">
            <a:avLst>
              <a:gd name="adj" fmla="val 28000"/>
            </a:avLst>
          </a:prstGeom>
          <a:gradFill rotWithShape="1">
            <a:gsLst>
              <a:gs pos="0">
                <a:srgbClr val="A100FF"/>
              </a:gs>
              <a:gs pos="100000">
                <a:srgbClr val="E03CF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3456432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4178808"/>
            <a:ext cx="307025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A1A1A"/>
                </a:solidFill>
                <a:latin typeface="Arial"/>
              </a:rPr>
              <a:t>Less noise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4636008"/>
            <a:ext cx="3070250" cy="12252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Deterministic scanners + AI triage cut false positives and duplicate alerts so teams fix what matters.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59554" y="3246120"/>
            <a:ext cx="3472586" cy="27432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60722" y="3465576"/>
            <a:ext cx="566928" cy="566928"/>
          </a:xfrm>
          <a:prstGeom prst="roundRect">
            <a:avLst>
              <a:gd name="adj" fmla="val 28000"/>
            </a:avLst>
          </a:prstGeom>
          <a:gradFill rotWithShape="1">
            <a:gsLst>
              <a:gs pos="0">
                <a:srgbClr val="5A2BD9"/>
              </a:gs>
              <a:gs pos="100000">
                <a:srgbClr val="008EF0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60722" y="3456432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$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0722" y="4178808"/>
            <a:ext cx="307025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A1A1A"/>
                </a:solidFill>
                <a:latin typeface="Arial"/>
              </a:rPr>
              <a:t>Predictable cost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60722" y="4636008"/>
            <a:ext cx="3070250" cy="12252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Every AI call passes a budget gate. Hard per-scan and monthly limits mean no overspend, ever.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52180" y="3246120"/>
            <a:ext cx="3472586" cy="27432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353348" y="3465576"/>
            <a:ext cx="566928" cy="566928"/>
          </a:xfrm>
          <a:prstGeom prst="roundRect">
            <a:avLst>
              <a:gd name="adj" fmla="val 28000"/>
            </a:avLst>
          </a:prstGeom>
          <a:gradFill rotWithShape="1">
            <a:gsLst>
              <a:gs pos="0">
                <a:srgbClr val="00B5A5"/>
              </a:gs>
              <a:gs pos="100000">
                <a:srgbClr val="16A34A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53348" y="3456432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3348" y="4178808"/>
            <a:ext cx="307025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A1A1A"/>
                </a:solidFill>
                <a:latin typeface="Arial"/>
              </a:rPr>
              <a:t>Fits any team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3348" y="4636008"/>
            <a:ext cx="3070250" cy="12252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One developer on a laptop or a whole enterprise in CI/CD — same platform, same guardrails.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6437376"/>
            <a:ext cx="11057839" cy="11430"/>
          </a:xfrm>
          <a:prstGeom prst="rect">
            <a:avLst/>
          </a:prstGeom>
          <a:solidFill>
            <a:srgbClr val="E4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A100FF"/>
                </a:solidFill>
                <a:latin typeface="Arial"/>
              </a:rPr>
              <a:t>ARGUS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C8C8C"/>
                </a:solidFill>
                <a:latin typeface="Arial"/>
              </a:rPr>
              <a:t>Adaptive AI Security Platform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7487" y="649224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Arial"/>
              </a:rPr>
              <a:t>02 / 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evron 2"/>
          <p:cNvSpPr/>
          <p:nvPr/>
        </p:nvSpPr>
        <p:spPr>
          <a:xfrm>
            <a:off x="566928" y="475488"/>
            <a:ext cx="182880" cy="182880"/>
          </a:xfrm>
          <a:prstGeom prst="chevron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A100FF"/>
                </a:solidFill>
                <a:latin typeface="Arial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1A1A1A"/>
                </a:solidFill>
                <a:latin typeface="Arial"/>
              </a:rPr>
              <a:t>Security teams are losing the 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89888"/>
            <a:ext cx="11057839" cy="17780"/>
          </a:xfrm>
          <a:prstGeom prst="rect">
            <a:avLst/>
          </a:prstGeom>
          <a:solidFill>
            <a:srgbClr val="E4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517904"/>
            <a:ext cx="110578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666666"/>
                </a:solidFill>
                <a:latin typeface="Arial"/>
              </a:rPr>
              <a:t>Code ships faster than ever. The tooling meant to secure it creates as many problems as it solves.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03120"/>
            <a:ext cx="5300319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4672" y="2377440"/>
            <a:ext cx="603504" cy="603504"/>
          </a:xfrm>
          <a:prstGeom prst="roundRect">
            <a:avLst>
              <a:gd name="adj" fmla="val 28000"/>
            </a:avLst>
          </a:prstGeom>
          <a:solidFill>
            <a:srgbClr val="FF5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2368296"/>
            <a:ext cx="603504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91056" y="2414016"/>
            <a:ext cx="411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A1A1A"/>
                </a:solidFill>
                <a:latin typeface="Arial"/>
              </a:rPr>
              <a:t>Alert fatigue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91056" y="2889504"/>
            <a:ext cx="4111599" cy="960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666666"/>
                </a:solidFill>
                <a:latin typeface="Arial"/>
              </a:rPr>
              <a:t>Scanners emit thousands of findings per repo. Most are duplicates or false positives. Real risks drown in the noise.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4447" y="2103120"/>
            <a:ext cx="5300319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62191" y="2377440"/>
            <a:ext cx="603504" cy="603504"/>
          </a:xfrm>
          <a:prstGeom prst="roundRect">
            <a:avLst>
              <a:gd name="adj" fmla="val 2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62191" y="2368296"/>
            <a:ext cx="603504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◫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48575" y="2414016"/>
            <a:ext cx="411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A1A1A"/>
                </a:solidFill>
                <a:latin typeface="Arial"/>
              </a:rPr>
              <a:t>Tool sprawl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48575" y="2889504"/>
            <a:ext cx="4111599" cy="960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666666"/>
                </a:solidFill>
                <a:latin typeface="Arial"/>
              </a:rPr>
              <a:t>SAST, SCA, secrets, IaC, DAST — each a separate tool, format, and dashboard. No single view of risk.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270247"/>
            <a:ext cx="5300319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4672" y="4544567"/>
            <a:ext cx="603504" cy="603504"/>
          </a:xfrm>
          <a:prstGeom prst="roundRect">
            <a:avLst>
              <a:gd name="adj" fmla="val 28000"/>
            </a:avLst>
          </a:prstGeom>
          <a:solidFill>
            <a:srgbClr val="E0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4535423"/>
            <a:ext cx="603504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$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91056" y="4581143"/>
            <a:ext cx="411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A1A1A"/>
                </a:solidFill>
                <a:latin typeface="Arial"/>
              </a:rPr>
              <a:t>Unpredictable AI cost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91056" y="5056631"/>
            <a:ext cx="4111599" cy="960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666666"/>
                </a:solidFill>
                <a:latin typeface="Arial"/>
              </a:rPr>
              <a:t>Bolting an LLM onto scanning works in a demo, then bills explode. No budget, no metering, no controls.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24447" y="4270247"/>
            <a:ext cx="5300319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562191" y="4544567"/>
            <a:ext cx="603504" cy="603504"/>
          </a:xfrm>
          <a:prstGeom prst="roundRect">
            <a:avLst>
              <a:gd name="adj" fmla="val 28000"/>
            </a:avLst>
          </a:prstGeom>
          <a:solidFill>
            <a:srgbClr val="5A2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62191" y="4535423"/>
            <a:ext cx="603504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48575" y="4581143"/>
            <a:ext cx="411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A1A1A"/>
                </a:solidFill>
                <a:latin typeface="Arial"/>
              </a:rPr>
              <a:t>No governance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48575" y="5056631"/>
            <a:ext cx="4111599" cy="960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666666"/>
                </a:solidFill>
                <a:latin typeface="Arial"/>
              </a:rPr>
              <a:t>Who suppressed that finding? Which policy passed? When? Auditors ask — and nobody can answer.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" y="6437376"/>
            <a:ext cx="11057839" cy="11430"/>
          </a:xfrm>
          <a:prstGeom prst="rect">
            <a:avLst/>
          </a:prstGeom>
          <a:solidFill>
            <a:srgbClr val="E4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A100FF"/>
                </a:solidFill>
                <a:latin typeface="Arial"/>
              </a:rPr>
              <a:t>ARGUS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C8C8C"/>
                </a:solidFill>
                <a:latin typeface="Arial"/>
              </a:rPr>
              <a:t>Adaptive AI Security Platform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27487" y="649224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Arial"/>
              </a:rPr>
              <a:t>03 / 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evron 2"/>
          <p:cNvSpPr/>
          <p:nvPr/>
        </p:nvSpPr>
        <p:spPr>
          <a:xfrm>
            <a:off x="566928" y="475488"/>
            <a:ext cx="182880" cy="182880"/>
          </a:xfrm>
          <a:prstGeom prst="chevron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A100FF"/>
                </a:solidFill>
                <a:latin typeface="Arial"/>
              </a:rPr>
              <a:t>WHY TODAY'S SOLUTIONS FALL SHORT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1A1A1A"/>
                </a:solidFill>
                <a:latin typeface="Arial"/>
              </a:rPr>
              <a:t>The gap between scanning and securing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89888"/>
            <a:ext cx="11057839" cy="17780"/>
          </a:xfrm>
          <a:prstGeom prst="rect">
            <a:avLst/>
          </a:prstGeom>
          <a:solidFill>
            <a:srgbClr val="E4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64208"/>
            <a:ext cx="11057839" cy="10607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664208"/>
            <a:ext cx="82296" cy="1060704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1664208"/>
            <a:ext cx="3566160" cy="10607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A1A1A"/>
                </a:solidFill>
                <a:latin typeface="Arial"/>
              </a:rPr>
              <a:t>Raw scanners (Semgrep, Grype…)</a:t>
            </a:r>
          </a:p>
        </p:txBody>
      </p:sp>
      <p:sp>
        <p:nvSpPr>
          <p:cNvPr id="10" name="Oval 9"/>
          <p:cNvSpPr/>
          <p:nvPr/>
        </p:nvSpPr>
        <p:spPr>
          <a:xfrm>
            <a:off x="4544567" y="2148840"/>
            <a:ext cx="91440" cy="91440"/>
          </a:xfrm>
          <a:prstGeom prst="ellipse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64608" y="1664208"/>
            <a:ext cx="6577279" cy="10607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Fast and free, but output a flat list. No prioritization, no context, no fix. The triage burden lands on humans.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34640"/>
            <a:ext cx="11057839" cy="1060704"/>
          </a:xfrm>
          <a:prstGeom prst="roundRect">
            <a:avLst>
              <a:gd name="adj" fmla="val 6000"/>
            </a:avLst>
          </a:prstGeom>
          <a:solidFill>
            <a:srgbClr val="F7F4FC"/>
          </a:solidFill>
          <a:ln w="9525">
            <a:solidFill>
              <a:srgbClr val="E4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6928" y="2834640"/>
            <a:ext cx="82296" cy="1060704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2834640"/>
            <a:ext cx="3566160" cy="10607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A1A1A"/>
                </a:solidFill>
                <a:latin typeface="Arial"/>
              </a:rPr>
              <a:t>Legacy SAST suites</a:t>
            </a:r>
          </a:p>
        </p:txBody>
      </p:sp>
      <p:sp>
        <p:nvSpPr>
          <p:cNvPr id="15" name="Oval 14"/>
          <p:cNvSpPr/>
          <p:nvPr/>
        </p:nvSpPr>
        <p:spPr>
          <a:xfrm>
            <a:off x="4544567" y="3319272"/>
            <a:ext cx="91440" cy="91440"/>
          </a:xfrm>
          <a:prstGeom prst="ellipse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64608" y="2834640"/>
            <a:ext cx="6577279" cy="10607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Heavyweight, slow, single-language focus, and costly per seat. Findings still need manual interpretation.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005072"/>
            <a:ext cx="11057839" cy="10607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4005072"/>
            <a:ext cx="82296" cy="1060704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" y="4005072"/>
            <a:ext cx="3566160" cy="10607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A1A1A"/>
                </a:solidFill>
                <a:latin typeface="Arial"/>
              </a:rPr>
              <a:t>Bolt-on "AI security" tools</a:t>
            </a:r>
          </a:p>
        </p:txBody>
      </p:sp>
      <p:sp>
        <p:nvSpPr>
          <p:cNvPr id="20" name="Oval 19"/>
          <p:cNvSpPr/>
          <p:nvPr/>
        </p:nvSpPr>
        <p:spPr>
          <a:xfrm>
            <a:off x="4544567" y="4489704"/>
            <a:ext cx="91440" cy="91440"/>
          </a:xfrm>
          <a:prstGeom prst="ellipse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64608" y="4005072"/>
            <a:ext cx="6577279" cy="10607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Impressive demos, opaque costs. No budget ceiling, no audit trail, and your source often leaves your boundary.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175504"/>
            <a:ext cx="11057839" cy="1060704"/>
          </a:xfrm>
          <a:prstGeom prst="roundRect">
            <a:avLst>
              <a:gd name="adj" fmla="val 6000"/>
            </a:avLst>
          </a:prstGeom>
          <a:solidFill>
            <a:srgbClr val="F7F4FC"/>
          </a:solidFill>
          <a:ln w="9525">
            <a:solidFill>
              <a:srgbClr val="E4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5175504"/>
            <a:ext cx="82296" cy="1060704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9536" y="5175504"/>
            <a:ext cx="3566160" cy="10607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A1A1A"/>
                </a:solidFill>
                <a:latin typeface="Arial"/>
              </a:rPr>
              <a:t>In-house glue scripts</a:t>
            </a:r>
          </a:p>
        </p:txBody>
      </p:sp>
      <p:sp>
        <p:nvSpPr>
          <p:cNvPr id="25" name="Oval 24"/>
          <p:cNvSpPr/>
          <p:nvPr/>
        </p:nvSpPr>
        <p:spPr>
          <a:xfrm>
            <a:off x="4544567" y="5660136"/>
            <a:ext cx="91440" cy="91440"/>
          </a:xfrm>
          <a:prstGeom prst="ellipse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64608" y="5175504"/>
            <a:ext cx="6577279" cy="10607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Stitch tools together until they break. No governance, no RBAC, no roadmap — and a maintenance tax forever.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" y="6437376"/>
            <a:ext cx="11057839" cy="11430"/>
          </a:xfrm>
          <a:prstGeom prst="rect">
            <a:avLst/>
          </a:prstGeom>
          <a:solidFill>
            <a:srgbClr val="E4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A100FF"/>
                </a:solidFill>
                <a:latin typeface="Arial"/>
              </a:rPr>
              <a:t>ARGUS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C8C8C"/>
                </a:solidFill>
                <a:latin typeface="Arial"/>
              </a:rPr>
              <a:t>Adaptive AI Security Platform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27487" y="649224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Arial"/>
              </a:rPr>
              <a:t>04 / 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evron 2"/>
          <p:cNvSpPr/>
          <p:nvPr/>
        </p:nvSpPr>
        <p:spPr>
          <a:xfrm>
            <a:off x="566928" y="475488"/>
            <a:ext cx="182880" cy="182880"/>
          </a:xfrm>
          <a:prstGeom prst="chevron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A100FF"/>
                </a:solidFill>
                <a:latin typeface="Arial"/>
              </a:rPr>
              <a:t>THE ARGUS DIFFERENCE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1A1A1A"/>
                </a:solidFill>
                <a:latin typeface="Arial"/>
              </a:rPr>
              <a:t>From a list of problems to a list of solved problems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89888"/>
            <a:ext cx="11057839" cy="17780"/>
          </a:xfrm>
          <a:prstGeom prst="rect">
            <a:avLst/>
          </a:prstGeom>
          <a:solidFill>
            <a:srgbClr val="E4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91640"/>
            <a:ext cx="5300319" cy="4297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874519"/>
            <a:ext cx="530031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666666"/>
                </a:solidFill>
                <a:latin typeface="Arial"/>
              </a:rPr>
              <a:t>TRADITIONAL TOOLING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" y="2423160"/>
            <a:ext cx="4568799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1">
                <a:solidFill>
                  <a:srgbClr val="8C8C8C"/>
                </a:solidFill>
                <a:latin typeface="Arial"/>
              </a:rPr>
              <a:t>▸  </a:t>
            </a:r>
            <a:r>
              <a:rPr sz="1250">
                <a:solidFill>
                  <a:srgbClr val="666666"/>
                </a:solidFill>
                <a:latin typeface="Arial"/>
              </a:rPr>
              <a:t>Thousands of raw, unranked findings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1">
                <a:solidFill>
                  <a:srgbClr val="8C8C8C"/>
                </a:solidFill>
                <a:latin typeface="Arial"/>
              </a:rPr>
              <a:t>▸  </a:t>
            </a:r>
            <a:r>
              <a:rPr sz="1250">
                <a:solidFill>
                  <a:srgbClr val="666666"/>
                </a:solidFill>
                <a:latin typeface="Arial"/>
              </a:rPr>
              <a:t>Separate tool per scan type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1">
                <a:solidFill>
                  <a:srgbClr val="8C8C8C"/>
                </a:solidFill>
                <a:latin typeface="Arial"/>
              </a:rPr>
              <a:t>▸  </a:t>
            </a:r>
            <a:r>
              <a:rPr sz="1250">
                <a:solidFill>
                  <a:srgbClr val="666666"/>
                </a:solidFill>
                <a:latin typeface="Arial"/>
              </a:rPr>
              <a:t>Manual triage and interpretation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1">
                <a:solidFill>
                  <a:srgbClr val="8C8C8C"/>
                </a:solidFill>
                <a:latin typeface="Arial"/>
              </a:rPr>
              <a:t>▸  </a:t>
            </a:r>
            <a:r>
              <a:rPr sz="1250">
                <a:solidFill>
                  <a:srgbClr val="666666"/>
                </a:solidFill>
                <a:latin typeface="Arial"/>
              </a:rPr>
              <a:t>Fixes are the developer's problem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1">
                <a:solidFill>
                  <a:srgbClr val="8C8C8C"/>
                </a:solidFill>
                <a:latin typeface="Arial"/>
              </a:rPr>
              <a:t>▸  </a:t>
            </a:r>
            <a:r>
              <a:rPr sz="1250">
                <a:solidFill>
                  <a:srgbClr val="666666"/>
                </a:solidFill>
                <a:latin typeface="Arial"/>
              </a:rPr>
              <a:t>AI cost is unbounded (if any AI at all)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1">
                <a:solidFill>
                  <a:srgbClr val="8C8C8C"/>
                </a:solidFill>
                <a:latin typeface="Arial"/>
              </a:rPr>
              <a:t>▸  </a:t>
            </a:r>
            <a:r>
              <a:rPr sz="1250">
                <a:solidFill>
                  <a:srgbClr val="666666"/>
                </a:solidFill>
                <a:latin typeface="Arial"/>
              </a:rPr>
              <a:t>Suppressions live in someone's head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1">
                <a:solidFill>
                  <a:srgbClr val="8C8C8C"/>
                </a:solidFill>
                <a:latin typeface="Arial"/>
              </a:rPr>
              <a:t>▸  </a:t>
            </a:r>
            <a:r>
              <a:rPr sz="1250">
                <a:solidFill>
                  <a:srgbClr val="666666"/>
                </a:solidFill>
                <a:latin typeface="Arial"/>
              </a:rPr>
              <a:t>Bring-your-own governance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24447" y="1691640"/>
            <a:ext cx="5300319" cy="429768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6A00C9"/>
              </a:gs>
              <a:gs pos="55000">
                <a:srgbClr val="A100FF"/>
              </a:gs>
              <a:gs pos="100000">
                <a:srgbClr val="6A00C9"/>
              </a:gs>
            </a:gsLst>
            <a:lin ang="3000000" scaled="1"/>
          </a:gradFill>
          <a:ln>
            <a:noFill/>
          </a:ln>
          <a:effectLst/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24447" y="1874519"/>
            <a:ext cx="530031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WITH ARGUS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35927" y="2423160"/>
            <a:ext cx="4568799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250" b="1">
                <a:solidFill>
                  <a:srgbClr val="E9C9FF"/>
                </a:solidFill>
                <a:latin typeface="Arial"/>
              </a:rPr>
              <a:t>✓  </a:t>
            </a:r>
            <a:r>
              <a:rPr sz="1250">
                <a:solidFill>
                  <a:srgbClr val="FFFFFF"/>
                </a:solidFill>
                <a:latin typeface="Arial"/>
              </a:rPr>
              <a:t>Prioritized, de-duplicated, exploit-ranked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250" b="1">
                <a:solidFill>
                  <a:srgbClr val="E9C9FF"/>
                </a:solidFill>
                <a:latin typeface="Arial"/>
              </a:rPr>
              <a:t>✓  </a:t>
            </a:r>
            <a:r>
              <a:rPr sz="1250">
                <a:solidFill>
                  <a:srgbClr val="FFFFFF"/>
                </a:solidFill>
                <a:latin typeface="Arial"/>
              </a:rPr>
              <a:t>Six scanners unified behind one API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250" b="1">
                <a:solidFill>
                  <a:srgbClr val="E9C9FF"/>
                </a:solidFill>
                <a:latin typeface="Arial"/>
              </a:rPr>
              <a:t>✓  </a:t>
            </a:r>
            <a:r>
              <a:rPr sz="1250">
                <a:solidFill>
                  <a:srgbClr val="FFFFFF"/>
                </a:solidFill>
                <a:latin typeface="Arial"/>
              </a:rPr>
              <a:t>AI triages, scores, and filters for you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250" b="1">
                <a:solidFill>
                  <a:srgbClr val="E9C9FF"/>
                </a:solidFill>
                <a:latin typeface="Arial"/>
              </a:rPr>
              <a:t>✓  </a:t>
            </a:r>
            <a:r>
              <a:rPr sz="1250">
                <a:solidFill>
                  <a:srgbClr val="FFFFFF"/>
                </a:solidFill>
                <a:latin typeface="Arial"/>
              </a:rPr>
              <a:t>AI writes a diff-ready fix + test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250" b="1">
                <a:solidFill>
                  <a:srgbClr val="E9C9FF"/>
                </a:solidFill>
                <a:latin typeface="Arial"/>
              </a:rPr>
              <a:t>✓  </a:t>
            </a:r>
            <a:r>
              <a:rPr sz="1250">
                <a:solidFill>
                  <a:srgbClr val="FFFFFF"/>
                </a:solidFill>
                <a:latin typeface="Arial"/>
              </a:rPr>
              <a:t>Hard budget gate on every AI call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250" b="1">
                <a:solidFill>
                  <a:srgbClr val="E9C9FF"/>
                </a:solidFill>
                <a:latin typeface="Arial"/>
              </a:rPr>
              <a:t>✓  </a:t>
            </a:r>
            <a:r>
              <a:rPr sz="1250">
                <a:solidFill>
                  <a:srgbClr val="FFFFFF"/>
                </a:solidFill>
                <a:latin typeface="Arial"/>
              </a:rPr>
              <a:t>Suppressions are rules, versioned + audited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250" b="1">
                <a:solidFill>
                  <a:srgbClr val="E9C9FF"/>
                </a:solidFill>
                <a:latin typeface="Arial"/>
              </a:rPr>
              <a:t>✓  </a:t>
            </a:r>
            <a:r>
              <a:rPr sz="1250">
                <a:solidFill>
                  <a:srgbClr val="FFFFFF"/>
                </a:solidFill>
                <a:latin typeface="Arial"/>
              </a:rPr>
              <a:t>RBAC, policies, and audit log built 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6437376"/>
            <a:ext cx="11057839" cy="11430"/>
          </a:xfrm>
          <a:prstGeom prst="rect">
            <a:avLst/>
          </a:prstGeom>
          <a:solidFill>
            <a:srgbClr val="E4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A100FF"/>
                </a:solidFill>
                <a:latin typeface="Arial"/>
              </a:rPr>
              <a:t>ARGUS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C8C8C"/>
                </a:solidFill>
                <a:latin typeface="Arial"/>
              </a:rPr>
              <a:t>Adaptive AI Security Platform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27487" y="649224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Arial"/>
              </a:rPr>
              <a:t>05 / 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evron 2"/>
          <p:cNvSpPr/>
          <p:nvPr/>
        </p:nvSpPr>
        <p:spPr>
          <a:xfrm>
            <a:off x="566928" y="475488"/>
            <a:ext cx="182880" cy="182880"/>
          </a:xfrm>
          <a:prstGeom prst="chevron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A100FF"/>
                </a:solidFill>
                <a:latin typeface="Arial"/>
              </a:rPr>
              <a:t>WHAT ARGUS DOES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1A1A1A"/>
                </a:solidFill>
                <a:latin typeface="Arial"/>
              </a:rPr>
              <a:t>Four steps, fully automated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89888"/>
            <a:ext cx="11057839" cy="17780"/>
          </a:xfrm>
          <a:prstGeom prst="rect">
            <a:avLst/>
          </a:prstGeom>
          <a:solidFill>
            <a:srgbClr val="E4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965960"/>
            <a:ext cx="2524429" cy="3383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2112264"/>
            <a:ext cx="215866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4E0EC"/>
                </a:solidFill>
                <a:latin typeface="Arial"/>
              </a:rPr>
              <a:t>01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" y="2514600"/>
            <a:ext cx="676656" cy="676656"/>
          </a:xfrm>
          <a:prstGeom prst="roundRect">
            <a:avLst>
              <a:gd name="adj" fmla="val 28000"/>
            </a:avLst>
          </a:prstGeom>
          <a:gradFill rotWithShape="1">
            <a:gsLst>
              <a:gs pos="0">
                <a:srgbClr val="A100FF"/>
              </a:gs>
              <a:gs pos="100000">
                <a:srgbClr val="E03CF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2505456"/>
            <a:ext cx="676656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rial"/>
              </a:rPr>
              <a:t>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3383280"/>
            <a:ext cx="208551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A1A1A"/>
                </a:solidFill>
                <a:latin typeface="Arial"/>
              </a:rPr>
              <a:t>Find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3840479"/>
            <a:ext cx="208551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666666"/>
                </a:solidFill>
                <a:latin typeface="Arial"/>
              </a:rPr>
              <a:t>Six scanners sweep code, dependencies, secrets, infrastructure, and running apps — with zero AI cost.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9645" y="3246120"/>
            <a:ext cx="30175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A100FF"/>
                </a:solidFill>
                <a:latin typeface="Arial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11397" y="1965960"/>
            <a:ext cx="2524429" cy="3383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12565" y="2112264"/>
            <a:ext cx="215866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4E0EC"/>
                </a:solidFill>
                <a:latin typeface="Arial"/>
              </a:rPr>
              <a:t>02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30853" y="2514600"/>
            <a:ext cx="676656" cy="676656"/>
          </a:xfrm>
          <a:prstGeom prst="roundRect">
            <a:avLst>
              <a:gd name="adj" fmla="val 28000"/>
            </a:avLst>
          </a:prstGeom>
          <a:gradFill rotWithShape="1">
            <a:gsLst>
              <a:gs pos="0">
                <a:srgbClr val="5A2BD9"/>
              </a:gs>
              <a:gs pos="100000">
                <a:srgbClr val="A100F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30853" y="2505456"/>
            <a:ext cx="676656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30853" y="3383280"/>
            <a:ext cx="208551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A1A1A"/>
                </a:solidFill>
                <a:latin typeface="Arial"/>
              </a:rPr>
              <a:t>Understand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30853" y="3840479"/>
            <a:ext cx="208551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666666"/>
                </a:solidFill>
                <a:latin typeface="Arial"/>
              </a:rPr>
              <a:t>AI triages every finding: is it real, how exploitable, what's the blast radius? Noise is filtered out.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54115" y="3246120"/>
            <a:ext cx="30175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A100FF"/>
                </a:solidFill>
                <a:latin typeface="Arial"/>
              </a:rPr>
              <a:t>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55867" y="1965960"/>
            <a:ext cx="2524429" cy="3383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7035" y="2112264"/>
            <a:ext cx="215866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4E0EC"/>
                </a:solidFill>
                <a:latin typeface="Arial"/>
              </a:rPr>
              <a:t>03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75323" y="2514600"/>
            <a:ext cx="676656" cy="676656"/>
          </a:xfrm>
          <a:prstGeom prst="roundRect">
            <a:avLst>
              <a:gd name="adj" fmla="val 28000"/>
            </a:avLst>
          </a:prstGeom>
          <a:gradFill rotWithShape="1">
            <a:gsLst>
              <a:gs pos="0">
                <a:srgbClr val="008EF0"/>
              </a:gs>
              <a:gs pos="100000">
                <a:srgbClr val="00B5A5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75323" y="2505456"/>
            <a:ext cx="676656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rial"/>
              </a:rPr>
              <a:t>✎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75323" y="3383280"/>
            <a:ext cx="208551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A1A1A"/>
                </a:solidFill>
                <a:latin typeface="Arial"/>
              </a:rPr>
              <a:t>Fix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5323" y="3840479"/>
            <a:ext cx="208551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666666"/>
                </a:solidFill>
                <a:latin typeface="Arial"/>
              </a:rPr>
              <a:t>For confirmed issues, AI drafts a precise code patch and a test — ready to review and merge.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98585" y="3246120"/>
            <a:ext cx="30175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A100FF"/>
                </a:solidFill>
                <a:latin typeface="Arial"/>
              </a:rPr>
              <a:t>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100337" y="1965960"/>
            <a:ext cx="2524429" cy="3383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1505" y="2112264"/>
            <a:ext cx="215866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4E0EC"/>
                </a:solidFill>
                <a:latin typeface="Arial"/>
              </a:rPr>
              <a:t>04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319793" y="2514600"/>
            <a:ext cx="676656" cy="676656"/>
          </a:xfrm>
          <a:prstGeom prst="roundRect">
            <a:avLst>
              <a:gd name="adj" fmla="val 28000"/>
            </a:avLst>
          </a:prstGeom>
          <a:gradFill rotWithShape="1">
            <a:gsLst>
              <a:gs pos="0">
                <a:srgbClr val="00B5A5"/>
              </a:gs>
              <a:gs pos="100000">
                <a:srgbClr val="16A34A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19793" y="2505456"/>
            <a:ext cx="676656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rial"/>
              </a:rPr>
              <a:t>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19793" y="3383280"/>
            <a:ext cx="208551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A1A1A"/>
                </a:solidFill>
                <a:latin typeface="Arial"/>
              </a:rPr>
              <a:t>Govern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19793" y="3840479"/>
            <a:ext cx="208551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666666"/>
                </a:solidFill>
                <a:latin typeface="Arial"/>
              </a:rPr>
              <a:t>Cost, policies, suppressions, and a full audit trail keep every scan compliant and affordable.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6437376"/>
            <a:ext cx="11057839" cy="11430"/>
          </a:xfrm>
          <a:prstGeom prst="rect">
            <a:avLst/>
          </a:prstGeom>
          <a:solidFill>
            <a:srgbClr val="E4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A100FF"/>
                </a:solidFill>
                <a:latin typeface="Arial"/>
              </a:rPr>
              <a:t>ARGUS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33856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C8C8C"/>
                </a:solidFill>
                <a:latin typeface="Arial"/>
              </a:rPr>
              <a:t>Adaptive AI Security Platform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27487" y="649224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Arial"/>
              </a:rPr>
              <a:t>06 / 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37005C"/>
              </a:gs>
              <a:gs pos="55000">
                <a:srgbClr val="A100FF"/>
              </a:gs>
              <a:gs pos="100000">
                <a:srgbClr val="37005C"/>
              </a:gs>
            </a:gsLst>
            <a:lin ang="21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evron 2"/>
          <p:cNvSpPr/>
          <p:nvPr/>
        </p:nvSpPr>
        <p:spPr>
          <a:xfrm>
            <a:off x="8778240" y="1280160"/>
            <a:ext cx="2011680" cy="4206240"/>
          </a:xfrm>
          <a:prstGeom prst="chevron">
            <a:avLst/>
          </a:prstGeom>
          <a:solidFill>
            <a:srgbClr val="B855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evron 3"/>
          <p:cNvSpPr/>
          <p:nvPr/>
        </p:nvSpPr>
        <p:spPr>
          <a:xfrm>
            <a:off x="9784080" y="1280160"/>
            <a:ext cx="2011680" cy="4206240"/>
          </a:xfrm>
          <a:prstGeom prst="chevron">
            <a:avLst/>
          </a:prstGeom>
          <a:solidFill>
            <a:srgbClr val="B855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evron 4"/>
          <p:cNvSpPr/>
          <p:nvPr/>
        </p:nvSpPr>
        <p:spPr>
          <a:xfrm>
            <a:off x="10789920" y="1280160"/>
            <a:ext cx="2011680" cy="4206240"/>
          </a:xfrm>
          <a:prstGeom prst="chevron">
            <a:avLst/>
          </a:prstGeom>
          <a:solidFill>
            <a:srgbClr val="B855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01168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6C6FF"/>
                </a:solidFill>
                <a:latin typeface="Arial"/>
              </a:rPr>
              <a:t>ACT 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468880"/>
            <a:ext cx="104241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Arial"/>
              </a:rPr>
              <a:t>How It Works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3822191"/>
            <a:ext cx="2194560" cy="33020"/>
          </a:xfrm>
          <a:prstGeom prst="rect">
            <a:avLst/>
          </a:prstGeom>
          <a:solidFill>
            <a:srgbClr val="CE8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3977639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E6CFFF"/>
                </a:solidFill>
                <a:latin typeface="Arial"/>
              </a:rPr>
              <a:t>Architecture, the scan pipeline, and why the signal is clean.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D9BFF2"/>
                </a:solidFill>
                <a:latin typeface="Arial"/>
              </a:rPr>
              <a:t>07 / 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evron 2"/>
          <p:cNvSpPr/>
          <p:nvPr/>
        </p:nvSpPr>
        <p:spPr>
          <a:xfrm>
            <a:off x="566928" y="475488"/>
            <a:ext cx="182880" cy="182880"/>
          </a:xfrm>
          <a:prstGeom prst="chevron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A100FF"/>
                </a:solidFill>
                <a:latin typeface="Arial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1A1A1A"/>
                </a:solidFill>
                <a:latin typeface="Arial"/>
              </a:rPr>
              <a:t>Layered, provider-agnostic, source stays home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89888"/>
            <a:ext cx="11057839" cy="17780"/>
          </a:xfrm>
          <a:prstGeom prst="rect">
            <a:avLst/>
          </a:prstGeom>
          <a:solidFill>
            <a:srgbClr val="E4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27632"/>
            <a:ext cx="7772400" cy="950976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A100FF"/>
              </a:gs>
              <a:gs pos="100000">
                <a:srgbClr val="E03CFF"/>
              </a:gs>
            </a:gsLst>
            <a:lin ang="720000" scaled="1"/>
          </a:gradFill>
          <a:ln>
            <a:noFill/>
          </a:ln>
          <a:effectLst/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1755648"/>
            <a:ext cx="7223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Arial"/>
              </a:rPr>
              <a:t>SURFACES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130552"/>
            <a:ext cx="7223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0E2FF"/>
                </a:solidFill>
                <a:latin typeface="Arial"/>
              </a:rPr>
              <a:t>Dashboard (React)  ·  VS Code extension  ·  CI step  ·  CLI gate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70248" y="2523744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8C8C8C"/>
                </a:solidFill>
                <a:latin typeface="Arial"/>
              </a:rPr>
              <a:t>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724912"/>
            <a:ext cx="7772400" cy="950976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6A00C9"/>
              </a:gs>
              <a:gs pos="100000">
                <a:srgbClr val="A100FF"/>
              </a:gs>
            </a:gsLst>
            <a:lin ang="720000" scaled="1"/>
          </a:gradFill>
          <a:ln>
            <a:noFill/>
          </a:ln>
          <a:effectLst/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2852928"/>
            <a:ext cx="7223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Arial"/>
              </a:rPr>
              <a:t>API LAYER  ·  FastAPI / Python 3.12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3227832"/>
            <a:ext cx="7223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0E2FF"/>
                </a:solidFill>
                <a:latin typeface="Arial"/>
              </a:rPr>
              <a:t>REST + Server-Sent Events  ·  OpenAPI 3.1  ·  API-key auth  ·  RBAC  ·  rate limiting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70248" y="3621024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8C8C8C"/>
                </a:solidFill>
                <a:latin typeface="Arial"/>
              </a:rPr>
              <a:t>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822192"/>
            <a:ext cx="7772400" cy="950976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5A2BD9"/>
              </a:gs>
              <a:gs pos="100000">
                <a:srgbClr val="8E2BD9"/>
              </a:gs>
            </a:gsLst>
            <a:lin ang="720000" scaled="1"/>
          </a:gradFill>
          <a:ln>
            <a:noFill/>
          </a:ln>
          <a:effectLst/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3950208"/>
            <a:ext cx="7223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Arial"/>
              </a:rPr>
              <a:t>ORCHESTRATOR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4325112"/>
            <a:ext cx="7223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0E2FF"/>
                </a:solidFill>
                <a:latin typeface="Arial"/>
              </a:rPr>
              <a:t>Pipeline engine  ·  GovernanceGate  ·  AI agents  ·  Skills  ·  cost ledger  ·  audit log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70248" y="4718304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8C8C8C"/>
                </a:solidFill>
                <a:latin typeface="Arial"/>
              </a:rPr>
              <a:t>▼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919472"/>
            <a:ext cx="7772400" cy="950976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00B5A5"/>
              </a:gs>
              <a:gs pos="100000">
                <a:srgbClr val="16A34A"/>
              </a:gs>
            </a:gsLst>
            <a:lin ang="720000" scaled="1"/>
          </a:gradFill>
          <a:ln>
            <a:noFill/>
          </a:ln>
          <a:effectLst/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5047488"/>
            <a:ext cx="7223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Arial"/>
              </a:rPr>
              <a:t>SCANNERS  —  zero AI tokens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" y="5422392"/>
            <a:ext cx="7223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0E2FF"/>
                </a:solidFill>
                <a:latin typeface="Arial"/>
              </a:rPr>
              <a:t>Semgrep  ·  TruffleHog  ·  Grype  ·  Checkov  ·  Nuclei  ·  OWASP ZAP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05088" y="1627632"/>
            <a:ext cx="2919679" cy="193852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705088" y="1627632"/>
            <a:ext cx="82296" cy="1938528"/>
          </a:xfrm>
          <a:prstGeom prst="rect">
            <a:avLst/>
          </a:prstGeom>
          <a:solidFill>
            <a:srgbClr val="008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924544" y="1828800"/>
            <a:ext cx="512064" cy="512064"/>
          </a:xfrm>
          <a:prstGeom prst="roundRect">
            <a:avLst>
              <a:gd name="adj" fmla="val 28000"/>
            </a:avLst>
          </a:prstGeom>
          <a:solidFill>
            <a:srgbClr val="008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24544" y="1819656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24544" y="2468880"/>
            <a:ext cx="25081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PostgreSQL 16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24544" y="2834640"/>
            <a:ext cx="250819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66666"/>
                </a:solidFill>
                <a:latin typeface="Arial"/>
              </a:rPr>
              <a:t>Scans, findings, fixes, policies, audit, cost ledger — SQLAlchemy 2 async + JSONB.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705088" y="3730752"/>
            <a:ext cx="2919679" cy="215798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705088" y="3730752"/>
            <a:ext cx="82296" cy="2157984"/>
          </a:xfrm>
          <a:prstGeom prst="rect">
            <a:avLst/>
          </a:prstGeom>
          <a:solidFill>
            <a:srgbClr val="E0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924544" y="3931920"/>
            <a:ext cx="512064" cy="512064"/>
          </a:xfrm>
          <a:prstGeom prst="roundRect">
            <a:avLst>
              <a:gd name="adj" fmla="val 28000"/>
            </a:avLst>
          </a:prstGeom>
          <a:solidFill>
            <a:srgbClr val="E0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24544" y="3922776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24544" y="4572000"/>
            <a:ext cx="25081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finRouter Gateway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24544" y="4937760"/>
            <a:ext cx="250819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66666"/>
                </a:solidFill>
                <a:latin typeface="Arial"/>
              </a:rPr>
              <a:t>Provider-agnostic LLM routing, AES-256-GCM key vault, zero-retention headers, org budgets.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6437376"/>
            <a:ext cx="11057839" cy="11430"/>
          </a:xfrm>
          <a:prstGeom prst="rect">
            <a:avLst/>
          </a:prstGeom>
          <a:solidFill>
            <a:srgbClr val="E4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A100FF"/>
                </a:solidFill>
                <a:latin typeface="Arial"/>
              </a:rPr>
              <a:t>ARGUS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33856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C8C8C"/>
                </a:solidFill>
                <a:latin typeface="Arial"/>
              </a:rPr>
              <a:t>Adaptive AI Security Platform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27487" y="649224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Arial"/>
              </a:rPr>
              <a:t>08 / 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evron 2"/>
          <p:cNvSpPr/>
          <p:nvPr/>
        </p:nvSpPr>
        <p:spPr>
          <a:xfrm>
            <a:off x="566928" y="475488"/>
            <a:ext cx="182880" cy="182880"/>
          </a:xfrm>
          <a:prstGeom prst="chevron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A100FF"/>
                </a:solidFill>
                <a:latin typeface="Arial"/>
              </a:rPr>
              <a:t>HOW A SCAN RUNS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1A1A1A"/>
                </a:solidFill>
                <a:latin typeface="Arial"/>
              </a:rPr>
              <a:t>A six-stage pipeline — deterministic work first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89888"/>
            <a:ext cx="11057839" cy="17780"/>
          </a:xfrm>
          <a:prstGeom prst="rect">
            <a:avLst/>
          </a:prstGeom>
          <a:solidFill>
            <a:srgbClr val="E4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965960"/>
            <a:ext cx="1675333" cy="24688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1675333" cy="10972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30274" y="2258568"/>
            <a:ext cx="548640" cy="548640"/>
          </a:xfrm>
          <a:prstGeom prst="ellipse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30274" y="225856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2916936"/>
            <a:ext cx="156560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 i="0">
                <a:solidFill>
                  <a:srgbClr val="1A1A1A"/>
                </a:solidFill>
                <a:latin typeface="Arial"/>
              </a:rPr>
              <a:t>Ingest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3300984"/>
            <a:ext cx="156560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80" b="0" i="0">
                <a:solidFill>
                  <a:srgbClr val="666666"/>
                </a:solidFill>
                <a:latin typeface="Arial"/>
              </a:rPr>
              <a:t>Index the target;
detect languages
&amp; frameworks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05685" y="2834640"/>
            <a:ext cx="274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A100FF"/>
                </a:solidFill>
                <a:latin typeface="Arial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43429" y="1965960"/>
            <a:ext cx="1675333" cy="24688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443429" y="1965960"/>
            <a:ext cx="1675333" cy="109728"/>
          </a:xfrm>
          <a:prstGeom prst="rect">
            <a:avLst/>
          </a:prstGeom>
          <a:solidFill>
            <a:srgbClr val="5A2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006775" y="2258568"/>
            <a:ext cx="548640" cy="548640"/>
          </a:xfrm>
          <a:prstGeom prst="ellipse">
            <a:avLst/>
          </a:prstGeom>
          <a:solidFill>
            <a:srgbClr val="5A2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06775" y="225856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98293" y="2916936"/>
            <a:ext cx="156560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 i="0">
                <a:solidFill>
                  <a:srgbClr val="1A1A1A"/>
                </a:solidFill>
                <a:latin typeface="Arial"/>
              </a:rPr>
              <a:t>Scan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98293" y="3300984"/>
            <a:ext cx="156560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80" b="0" i="0">
                <a:solidFill>
                  <a:srgbClr val="666666"/>
                </a:solidFill>
                <a:latin typeface="Arial"/>
              </a:rPr>
              <a:t>Run the selected
scanners in
parallel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82186" y="2834640"/>
            <a:ext cx="274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A100FF"/>
                </a:solidFill>
                <a:latin typeface="Arial"/>
              </a:rPr>
              <a:t>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19930" y="1965960"/>
            <a:ext cx="1675333" cy="24688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19930" y="1965960"/>
            <a:ext cx="1675333" cy="109728"/>
          </a:xfrm>
          <a:prstGeom prst="rect">
            <a:avLst/>
          </a:prstGeom>
          <a:solidFill>
            <a:srgbClr val="008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883276" y="2258568"/>
            <a:ext cx="548640" cy="548640"/>
          </a:xfrm>
          <a:prstGeom prst="ellipse">
            <a:avLst/>
          </a:prstGeom>
          <a:solidFill>
            <a:srgbClr val="008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83276" y="225856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74794" y="2916936"/>
            <a:ext cx="156560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 i="0">
                <a:solidFill>
                  <a:srgbClr val="1A1A1A"/>
                </a:solidFill>
                <a:latin typeface="Arial"/>
              </a:rPr>
              <a:t>Triage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74794" y="3300984"/>
            <a:ext cx="156560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80" b="0" i="0">
                <a:solidFill>
                  <a:srgbClr val="666666"/>
                </a:solidFill>
                <a:latin typeface="Arial"/>
              </a:rPr>
              <a:t>Dedup, fingerprint,
score, drop false
positives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58687" y="2834640"/>
            <a:ext cx="274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A100FF"/>
                </a:solidFill>
                <a:latin typeface="Arial"/>
              </a:rPr>
              <a:t>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96431" y="1965960"/>
            <a:ext cx="1675333" cy="24688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96431" y="1965960"/>
            <a:ext cx="1675333" cy="109728"/>
          </a:xfrm>
          <a:prstGeom prst="rect">
            <a:avLst/>
          </a:prstGeom>
          <a:solidFill>
            <a:srgbClr val="00B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759778" y="2258568"/>
            <a:ext cx="548640" cy="548640"/>
          </a:xfrm>
          <a:prstGeom prst="ellipse">
            <a:avLst/>
          </a:prstGeom>
          <a:solidFill>
            <a:srgbClr val="00B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59778" y="225856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51295" y="2916936"/>
            <a:ext cx="156560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 i="0">
                <a:solidFill>
                  <a:srgbClr val="1A1A1A"/>
                </a:solidFill>
                <a:latin typeface="Arial"/>
              </a:rPr>
              <a:t>Explain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51295" y="3300984"/>
            <a:ext cx="156560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80" b="0" i="0">
                <a:solidFill>
                  <a:srgbClr val="666666"/>
                </a:solidFill>
                <a:latin typeface="Arial"/>
              </a:rPr>
              <a:t>Plain-language
risk + business
context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35188" y="2834640"/>
            <a:ext cx="274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A100FF"/>
                </a:solidFill>
                <a:latin typeface="Arial"/>
              </a:rPr>
              <a:t>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72932" y="1965960"/>
            <a:ext cx="1675333" cy="24688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072932" y="1965960"/>
            <a:ext cx="1675333" cy="10972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636279" y="2258568"/>
            <a:ext cx="548640" cy="548640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36279" y="225856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27796" y="2916936"/>
            <a:ext cx="156560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 i="0">
                <a:solidFill>
                  <a:srgbClr val="1A1A1A"/>
                </a:solidFill>
                <a:latin typeface="Arial"/>
              </a:rPr>
              <a:t>Fix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27796" y="3300984"/>
            <a:ext cx="156560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80" b="0" i="0">
                <a:solidFill>
                  <a:srgbClr val="666666"/>
                </a:solidFill>
                <a:latin typeface="Arial"/>
              </a:rPr>
              <a:t>Diff-ready patch
+ test, human-
gated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11689" y="2834640"/>
            <a:ext cx="274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A100FF"/>
                </a:solidFill>
                <a:latin typeface="Arial"/>
              </a:rPr>
              <a:t>›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949433" y="1965960"/>
            <a:ext cx="1675333" cy="24688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949433" y="1965960"/>
            <a:ext cx="1675333" cy="109728"/>
          </a:xfrm>
          <a:prstGeom prst="rect">
            <a:avLst/>
          </a:prstGeom>
          <a:solidFill>
            <a:srgbClr val="6A00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512780" y="2258568"/>
            <a:ext cx="548640" cy="548640"/>
          </a:xfrm>
          <a:prstGeom prst="ellipse">
            <a:avLst/>
          </a:prstGeom>
          <a:solidFill>
            <a:srgbClr val="6A00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512780" y="225856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004297" y="2916936"/>
            <a:ext cx="156560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 i="0">
                <a:solidFill>
                  <a:srgbClr val="1A1A1A"/>
                </a:solidFill>
                <a:latin typeface="Arial"/>
              </a:rPr>
              <a:t>Report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04297" y="3300984"/>
            <a:ext cx="156560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80" b="0" i="0">
                <a:solidFill>
                  <a:srgbClr val="666666"/>
                </a:solidFill>
                <a:latin typeface="Arial"/>
              </a:rPr>
              <a:t>SBOM, compliance,
policy check,
notify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66928" y="4892040"/>
            <a:ext cx="11057839" cy="960120"/>
          </a:xfrm>
          <a:prstGeom prst="roundRect">
            <a:avLst>
              <a:gd name="adj" fmla="val 8000"/>
            </a:avLst>
          </a:prstGeom>
          <a:solidFill>
            <a:srgbClr val="F4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66928" y="4892040"/>
            <a:ext cx="109728" cy="96012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822960" y="5111496"/>
            <a:ext cx="512064" cy="512064"/>
          </a:xfrm>
          <a:prstGeom prst="roundRect">
            <a:avLst>
              <a:gd name="adj" fmla="val 28000"/>
            </a:avLst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22960" y="5102352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$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527048" y="5038344"/>
            <a:ext cx="986911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37005C"/>
                </a:solidFill>
                <a:latin typeface="Arial"/>
              </a:rPr>
              <a:t>GovernanceGate wraps every AI call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27048" y="5385816"/>
            <a:ext cx="986911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80" b="0" i="0">
                <a:solidFill>
                  <a:srgbClr val="666666"/>
                </a:solidFill>
                <a:latin typeface="Arial"/>
              </a:rPr>
              <a:t>Before any token is spent, the gate checks the budget, picks the cheapest viable model, records the cost, and streams progress live. Over budget → remaining AI steps are skipped, scan still completes.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66928" y="6437376"/>
            <a:ext cx="11057839" cy="11430"/>
          </a:xfrm>
          <a:prstGeom prst="rect">
            <a:avLst/>
          </a:prstGeom>
          <a:solidFill>
            <a:srgbClr val="E4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66928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A100FF"/>
                </a:solidFill>
                <a:latin typeface="Arial"/>
              </a:rPr>
              <a:t>ARGUS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33856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C8C8C"/>
                </a:solidFill>
                <a:latin typeface="Arial"/>
              </a:rPr>
              <a:t>Adaptive AI Security Platform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527487" y="649224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Arial"/>
              </a:rPr>
              <a:t>09 / 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evron 2"/>
          <p:cNvSpPr/>
          <p:nvPr/>
        </p:nvSpPr>
        <p:spPr>
          <a:xfrm>
            <a:off x="566928" y="475488"/>
            <a:ext cx="182880" cy="182880"/>
          </a:xfrm>
          <a:prstGeom prst="chevron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A100FF"/>
                </a:solidFill>
                <a:latin typeface="Arial"/>
              </a:rPr>
              <a:t>SIGNAL QUALITY BY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1A1A1A"/>
                </a:solidFill>
                <a:latin typeface="Arial"/>
              </a:rPr>
              <a:t>Cheap, deterministic work first — AI only where it pays off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89888"/>
            <a:ext cx="11057839" cy="17780"/>
          </a:xfrm>
          <a:prstGeom prst="rect">
            <a:avLst/>
          </a:prstGeom>
          <a:solidFill>
            <a:srgbClr val="E4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91640"/>
            <a:ext cx="5300319" cy="42519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6928" y="1691640"/>
            <a:ext cx="5300319" cy="658368"/>
          </a:xfrm>
          <a:prstGeom prst="roundRect">
            <a:avLst>
              <a:gd name="adj" fmla="val 7000"/>
            </a:avLst>
          </a:prstGeom>
          <a:solidFill>
            <a:srgbClr val="00B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5300319" cy="338328"/>
          </a:xfrm>
          <a:prstGeom prst="rect">
            <a:avLst/>
          </a:prstGeom>
          <a:solidFill>
            <a:srgbClr val="00B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1691640"/>
            <a:ext cx="475167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Arial"/>
              </a:rPr>
              <a:t>DETERMINISTIC SCANNERS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505456"/>
            <a:ext cx="47516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0B5A5"/>
                </a:solidFill>
                <a:latin typeface="Arial"/>
              </a:rPr>
              <a:t>Zero AI tokens · runs every time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2971800"/>
            <a:ext cx="4705959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180" b="1">
                <a:solidFill>
                  <a:srgbClr val="00B5A5"/>
                </a:solidFill>
                <a:latin typeface="Arial"/>
              </a:rPr>
              <a:t>▸  </a:t>
            </a:r>
            <a:r>
              <a:rPr sz="1180">
                <a:solidFill>
                  <a:srgbClr val="666666"/>
                </a:solidFill>
                <a:latin typeface="Arial"/>
              </a:rPr>
              <a:t>Semgrep — static analysis (SAST), 1000+ rules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180" b="1">
                <a:solidFill>
                  <a:srgbClr val="00B5A5"/>
                </a:solidFill>
                <a:latin typeface="Arial"/>
              </a:rPr>
              <a:t>▸  </a:t>
            </a:r>
            <a:r>
              <a:rPr sz="1180">
                <a:solidFill>
                  <a:srgbClr val="666666"/>
                </a:solidFill>
                <a:latin typeface="Arial"/>
              </a:rPr>
              <a:t>TruffleHog — verified secret detection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180" b="1">
                <a:solidFill>
                  <a:srgbClr val="00B5A5"/>
                </a:solidFill>
                <a:latin typeface="Arial"/>
              </a:rPr>
              <a:t>▸  </a:t>
            </a:r>
            <a:r>
              <a:rPr sz="1180">
                <a:solidFill>
                  <a:srgbClr val="666666"/>
                </a:solidFill>
                <a:latin typeface="Arial"/>
              </a:rPr>
              <a:t>Grype — dependency CVEs (SCA)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180" b="1">
                <a:solidFill>
                  <a:srgbClr val="00B5A5"/>
                </a:solidFill>
                <a:latin typeface="Arial"/>
              </a:rPr>
              <a:t>▸  </a:t>
            </a:r>
            <a:r>
              <a:rPr sz="1180">
                <a:solidFill>
                  <a:srgbClr val="666666"/>
                </a:solidFill>
                <a:latin typeface="Arial"/>
              </a:rPr>
              <a:t>Checkov — Terraform / Kubernetes / CFN (IaC)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180" b="1">
                <a:solidFill>
                  <a:srgbClr val="00B5A5"/>
                </a:solidFill>
                <a:latin typeface="Arial"/>
              </a:rPr>
              <a:t>▸  </a:t>
            </a:r>
            <a:r>
              <a:rPr sz="1180">
                <a:solidFill>
                  <a:srgbClr val="666666"/>
                </a:solidFill>
                <a:latin typeface="Arial"/>
              </a:rPr>
              <a:t>Nuclei + OWASP ZAP — running-app testing (DAST)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180" b="1">
                <a:solidFill>
                  <a:srgbClr val="00B5A5"/>
                </a:solidFill>
                <a:latin typeface="Arial"/>
              </a:rPr>
              <a:t>▸  </a:t>
            </a:r>
            <a:r>
              <a:rPr sz="1180">
                <a:solidFill>
                  <a:srgbClr val="666666"/>
                </a:solidFill>
                <a:latin typeface="Arial"/>
              </a:rPr>
              <a:t>Dedup + fingerprint so one issue is one finding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4447" y="1691640"/>
            <a:ext cx="5300319" cy="42519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324447" y="1691640"/>
            <a:ext cx="5300319" cy="658368"/>
          </a:xfrm>
          <a:prstGeom prst="roundRect">
            <a:avLst>
              <a:gd name="adj" fmla="val 7000"/>
            </a:avLst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24447" y="2011680"/>
            <a:ext cx="5300319" cy="33832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98767" y="1691640"/>
            <a:ext cx="475167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Arial"/>
              </a:rPr>
              <a:t>AI AGENTS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8767" y="2505456"/>
            <a:ext cx="47516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A100FF"/>
                </a:solidFill>
                <a:latin typeface="Arial"/>
              </a:rPr>
              <a:t>Metered · runs only after dedup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4487" y="2971800"/>
            <a:ext cx="4705959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180" b="1">
                <a:solidFill>
                  <a:srgbClr val="A100FF"/>
                </a:solidFill>
                <a:latin typeface="Arial"/>
              </a:rPr>
              <a:t>▸  </a:t>
            </a:r>
            <a:r>
              <a:rPr sz="1180">
                <a:solidFill>
                  <a:srgbClr val="666666"/>
                </a:solidFill>
                <a:latin typeface="Arial"/>
              </a:rPr>
              <a:t>Triage — confirm, score exploitability, cut FPs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180" b="1">
                <a:solidFill>
                  <a:srgbClr val="A100FF"/>
                </a:solidFill>
                <a:latin typeface="Arial"/>
              </a:rPr>
              <a:t>▸  </a:t>
            </a:r>
            <a:r>
              <a:rPr sz="1180">
                <a:solidFill>
                  <a:srgbClr val="666666"/>
                </a:solidFill>
                <a:latin typeface="Arial"/>
              </a:rPr>
              <a:t>Explainer — plain-language risk + business impact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180" b="1">
                <a:solidFill>
                  <a:srgbClr val="A100FF"/>
                </a:solidFill>
                <a:latin typeface="Arial"/>
              </a:rPr>
              <a:t>▸  </a:t>
            </a:r>
            <a:r>
              <a:rPr sz="1180">
                <a:solidFill>
                  <a:srgbClr val="666666"/>
                </a:solidFill>
                <a:latin typeface="Arial"/>
              </a:rPr>
              <a:t>Fix — generate a reviewed code diff and a test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180" b="1">
                <a:solidFill>
                  <a:srgbClr val="A100FF"/>
                </a:solidFill>
                <a:latin typeface="Arial"/>
              </a:rPr>
              <a:t>▸  </a:t>
            </a:r>
            <a:r>
              <a:rPr sz="1180">
                <a:solidFill>
                  <a:srgbClr val="666666"/>
                </a:solidFill>
                <a:latin typeface="Arial"/>
              </a:rPr>
              <a:t>Pattern — connect findings into systemic risks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180" b="1">
                <a:solidFill>
                  <a:srgbClr val="A100FF"/>
                </a:solidFill>
                <a:latin typeface="Arial"/>
              </a:rPr>
              <a:t>▸  </a:t>
            </a:r>
            <a:r>
              <a:rPr sz="1180">
                <a:solidFill>
                  <a:srgbClr val="666666"/>
                </a:solidFill>
                <a:latin typeface="Arial"/>
              </a:rPr>
              <a:t>Skill Creator — author new domain knowledge live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180" b="1">
                <a:solidFill>
                  <a:srgbClr val="A100FF"/>
                </a:solidFill>
                <a:latin typeface="Arial"/>
              </a:rPr>
              <a:t>▸  </a:t>
            </a:r>
            <a:r>
              <a:rPr sz="1180">
                <a:solidFill>
                  <a:srgbClr val="666666"/>
                </a:solidFill>
                <a:latin typeface="Arial"/>
              </a:rPr>
              <a:t>Every call routed + budgeted via GovernanceGate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6437376"/>
            <a:ext cx="11057839" cy="11430"/>
          </a:xfrm>
          <a:prstGeom prst="rect">
            <a:avLst/>
          </a:prstGeom>
          <a:solidFill>
            <a:srgbClr val="E4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A100FF"/>
                </a:solidFill>
                <a:latin typeface="Arial"/>
              </a:rPr>
              <a:t>ARGUS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C8C8C"/>
                </a:solidFill>
                <a:latin typeface="Arial"/>
              </a:rPr>
              <a:t>Adaptive AI Security Platform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27487" y="649224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Arial"/>
              </a:rPr>
              <a:t>10 / 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37005C"/>
              </a:gs>
              <a:gs pos="55000">
                <a:srgbClr val="A100FF"/>
              </a:gs>
              <a:gs pos="100000">
                <a:srgbClr val="37005C"/>
              </a:gs>
            </a:gsLst>
            <a:lin ang="21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evron 2"/>
          <p:cNvSpPr/>
          <p:nvPr/>
        </p:nvSpPr>
        <p:spPr>
          <a:xfrm>
            <a:off x="8778240" y="1280160"/>
            <a:ext cx="2011680" cy="4206240"/>
          </a:xfrm>
          <a:prstGeom prst="chevron">
            <a:avLst/>
          </a:prstGeom>
          <a:solidFill>
            <a:srgbClr val="B855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evron 3"/>
          <p:cNvSpPr/>
          <p:nvPr/>
        </p:nvSpPr>
        <p:spPr>
          <a:xfrm>
            <a:off x="9784080" y="1280160"/>
            <a:ext cx="2011680" cy="4206240"/>
          </a:xfrm>
          <a:prstGeom prst="chevron">
            <a:avLst/>
          </a:prstGeom>
          <a:solidFill>
            <a:srgbClr val="B855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evron 4"/>
          <p:cNvSpPr/>
          <p:nvPr/>
        </p:nvSpPr>
        <p:spPr>
          <a:xfrm>
            <a:off x="10789920" y="1280160"/>
            <a:ext cx="2011680" cy="4206240"/>
          </a:xfrm>
          <a:prstGeom prst="chevron">
            <a:avLst/>
          </a:prstGeom>
          <a:solidFill>
            <a:srgbClr val="B855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01168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6C6FF"/>
                </a:solidFill>
                <a:latin typeface="Arial"/>
              </a:rPr>
              <a:t>ACT III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468880"/>
            <a:ext cx="104241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Arial"/>
              </a:rPr>
              <a:t>Choose Your Scan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3822191"/>
            <a:ext cx="2194560" cy="33020"/>
          </a:xfrm>
          <a:prstGeom prst="rect">
            <a:avLst/>
          </a:prstGeom>
          <a:solidFill>
            <a:srgbClr val="CE8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3977639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E6CFFF"/>
                </a:solidFill>
                <a:latin typeface="Arial"/>
              </a:rPr>
              <a:t>Mode, pipeline, approach — and a system that adapts with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D9BFF2"/>
                </a:solidFill>
                <a:latin typeface="Arial"/>
              </a:rPr>
              <a:t>11 / 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evron 2"/>
          <p:cNvSpPr/>
          <p:nvPr/>
        </p:nvSpPr>
        <p:spPr>
          <a:xfrm>
            <a:off x="566928" y="475488"/>
            <a:ext cx="182880" cy="182880"/>
          </a:xfrm>
          <a:prstGeom prst="chevron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A100FF"/>
                </a:solidFill>
                <a:latin typeface="Arial"/>
              </a:rPr>
              <a:t>CHOOSE YOUR SCAN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1A1A1A"/>
                </a:solidFill>
                <a:latin typeface="Arial"/>
              </a:rPr>
              <a:t>Three independent dials tune every scan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89888"/>
            <a:ext cx="11057839" cy="17780"/>
          </a:xfrm>
          <a:prstGeom prst="rect">
            <a:avLst/>
          </a:prstGeom>
          <a:solidFill>
            <a:srgbClr val="E4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517904"/>
            <a:ext cx="110578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666666"/>
                </a:solidFill>
                <a:latin typeface="Arial"/>
              </a:rPr>
              <a:t>Mode, pipeline, and approach combine freely — the same codebase can be scanned many ways for many audiences.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48840"/>
            <a:ext cx="3472586" cy="36118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6928" y="2148840"/>
            <a:ext cx="3472586" cy="914400"/>
          </a:xfrm>
          <a:prstGeom prst="roundRect">
            <a:avLst>
              <a:gd name="adj" fmla="val 9000"/>
            </a:avLst>
          </a:prstGeom>
          <a:gradFill rotWithShape="1">
            <a:gsLst>
              <a:gs pos="0">
                <a:srgbClr val="A100FF"/>
              </a:gs>
              <a:gs pos="100000">
                <a:srgbClr val="E03CFF"/>
              </a:gs>
            </a:gsLst>
            <a:lin ang="1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2606040"/>
            <a:ext cx="3472586" cy="457200"/>
          </a:xfrm>
          <a:prstGeom prst="rect">
            <a:avLst/>
          </a:prstGeom>
          <a:gradFill rotWithShape="1">
            <a:gsLst>
              <a:gs pos="0">
                <a:srgbClr val="A100FF"/>
              </a:gs>
              <a:gs pos="100000">
                <a:srgbClr val="E03CFF"/>
              </a:gs>
            </a:gsLst>
            <a:lin ang="1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295144"/>
            <a:ext cx="301538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679192"/>
            <a:ext cx="301538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0E2FF"/>
                </a:solidFill>
                <a:latin typeface="Arial"/>
              </a:rPr>
              <a:t>When &amp; how much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09544"/>
            <a:ext cx="301538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1A1A1A"/>
                </a:solidFill>
                <a:latin typeface="Arial"/>
              </a:rPr>
              <a:t>How the scan is triggered and scoped.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904488"/>
            <a:ext cx="2997098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A100FF"/>
                </a:solidFill>
                <a:latin typeface="Arial"/>
              </a:rPr>
              <a:t>▸  </a:t>
            </a:r>
            <a:r>
              <a:rPr sz="1100">
                <a:solidFill>
                  <a:srgbClr val="666666"/>
                </a:solidFill>
                <a:latin typeface="Arial"/>
              </a:rPr>
              <a:t>at_rest — full audit of a target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A100FF"/>
                </a:solidFill>
                <a:latin typeface="Arial"/>
              </a:rPr>
              <a:t>▸  </a:t>
            </a:r>
            <a:r>
              <a:rPr sz="1100">
                <a:solidFill>
                  <a:srgbClr val="666666"/>
                </a:solidFill>
                <a:latin typeface="Arial"/>
              </a:rPr>
              <a:t>batch — many targets at once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A100FF"/>
                </a:solidFill>
                <a:latin typeface="Arial"/>
              </a:rPr>
              <a:t>▸  </a:t>
            </a:r>
            <a:r>
              <a:rPr sz="1100">
                <a:solidFill>
                  <a:srgbClr val="666666"/>
                </a:solidFill>
                <a:latin typeface="Arial"/>
              </a:rPr>
              <a:t>real_time — only changed files (PR loop)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59554" y="2148840"/>
            <a:ext cx="3472586" cy="36118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359554" y="2148840"/>
            <a:ext cx="3472586" cy="914400"/>
          </a:xfrm>
          <a:prstGeom prst="roundRect">
            <a:avLst>
              <a:gd name="adj" fmla="val 9000"/>
            </a:avLst>
          </a:prstGeom>
          <a:gradFill rotWithShape="1">
            <a:gsLst>
              <a:gs pos="0">
                <a:srgbClr val="5A2BD9"/>
              </a:gs>
              <a:gs pos="100000">
                <a:srgbClr val="A100FF"/>
              </a:gs>
            </a:gsLst>
            <a:lin ang="1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59554" y="2606040"/>
            <a:ext cx="3472586" cy="457200"/>
          </a:xfrm>
          <a:prstGeom prst="rect">
            <a:avLst/>
          </a:prstGeom>
          <a:gradFill rotWithShape="1">
            <a:gsLst>
              <a:gs pos="0">
                <a:srgbClr val="5A2BD9"/>
              </a:gs>
              <a:gs pos="100000">
                <a:srgbClr val="A100FF"/>
              </a:gs>
            </a:gsLst>
            <a:lin ang="1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5586" y="2295144"/>
            <a:ext cx="301538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PIPELINE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5586" y="2679192"/>
            <a:ext cx="301538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0E2FF"/>
                </a:solidFill>
                <a:latin typeface="Arial"/>
              </a:rPr>
              <a:t>Which tools run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5586" y="3209544"/>
            <a:ext cx="301538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1A1A1A"/>
                </a:solidFill>
                <a:latin typeface="Arial"/>
              </a:rPr>
              <a:t>A named recipe of scanners + agents.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5586" y="3904488"/>
            <a:ext cx="2997098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5A2BD9"/>
                </a:solidFill>
                <a:latin typeface="Arial"/>
              </a:rPr>
              <a:t>▸  </a:t>
            </a:r>
            <a:r>
              <a:rPr sz="1100">
                <a:solidFill>
                  <a:srgbClr val="666666"/>
                </a:solidFill>
                <a:latin typeface="Arial"/>
              </a:rPr>
              <a:t>full-scan · pr-check · real-time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5A2BD9"/>
                </a:solidFill>
                <a:latin typeface="Arial"/>
              </a:rPr>
              <a:t>▸  </a:t>
            </a:r>
            <a:r>
              <a:rPr sz="1100">
                <a:solidFill>
                  <a:srgbClr val="666666"/>
                </a:solidFill>
                <a:latin typeface="Arial"/>
              </a:rPr>
              <a:t>sca-scan · iac-scan · dast-scan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5A2BD9"/>
                </a:solidFill>
                <a:latin typeface="Arial"/>
              </a:rPr>
              <a:t>▸  </a:t>
            </a:r>
            <a:r>
              <a:rPr sz="1100">
                <a:solidFill>
                  <a:srgbClr val="666666"/>
                </a:solidFill>
                <a:latin typeface="Arial"/>
              </a:rPr>
              <a:t>comprehensive — everything, parallel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52180" y="2148840"/>
            <a:ext cx="3472586" cy="36118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152180" y="2148840"/>
            <a:ext cx="3472586" cy="914400"/>
          </a:xfrm>
          <a:prstGeom prst="roundRect">
            <a:avLst>
              <a:gd name="adj" fmla="val 9000"/>
            </a:avLst>
          </a:prstGeom>
          <a:gradFill rotWithShape="1">
            <a:gsLst>
              <a:gs pos="0">
                <a:srgbClr val="00B5A5"/>
              </a:gs>
              <a:gs pos="100000">
                <a:srgbClr val="16A34A"/>
              </a:gs>
            </a:gsLst>
            <a:lin ang="1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152180" y="2606040"/>
            <a:ext cx="3472586" cy="457200"/>
          </a:xfrm>
          <a:prstGeom prst="rect">
            <a:avLst/>
          </a:prstGeom>
          <a:gradFill rotWithShape="1">
            <a:gsLst>
              <a:gs pos="0">
                <a:srgbClr val="00B5A5"/>
              </a:gs>
              <a:gs pos="100000">
                <a:srgbClr val="16A34A"/>
              </a:gs>
            </a:gsLst>
            <a:lin ang="1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08212" y="2295144"/>
            <a:ext cx="301538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APPROACH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08212" y="2679192"/>
            <a:ext cx="301538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0E2FF"/>
                </a:solidFill>
                <a:latin typeface="Arial"/>
              </a:rPr>
              <a:t>Through which lens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08212" y="3209544"/>
            <a:ext cx="301538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1A1A1A"/>
                </a:solidFill>
                <a:latin typeface="Arial"/>
              </a:rPr>
              <a:t>The analytical mindset AI applies.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08212" y="3904488"/>
            <a:ext cx="2997098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00B5A5"/>
                </a:solidFill>
                <a:latin typeface="Arial"/>
              </a:rPr>
              <a:t>▸  </a:t>
            </a:r>
            <a:r>
              <a:rPr sz="1100">
                <a:solidFill>
                  <a:srgbClr val="666666"/>
                </a:solidFill>
                <a:latin typeface="Arial"/>
              </a:rPr>
              <a:t>pen-test · adversary emulation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00B5A5"/>
                </a:solidFill>
                <a:latin typeface="Arial"/>
              </a:rPr>
              <a:t>▸  </a:t>
            </a:r>
            <a:r>
              <a:rPr sz="1100">
                <a:solidFill>
                  <a:srgbClr val="666666"/>
                </a:solidFill>
                <a:latin typeface="Arial"/>
              </a:rPr>
              <a:t>breach &amp; attack sim · assumed breach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00B5A5"/>
                </a:solidFill>
                <a:latin typeface="Arial"/>
              </a:rPr>
              <a:t>▸  </a:t>
            </a:r>
            <a:r>
              <a:rPr sz="1100">
                <a:solidFill>
                  <a:srgbClr val="666666"/>
                </a:solidFill>
                <a:latin typeface="Arial"/>
              </a:rPr>
              <a:t>blue team · purple team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6437376"/>
            <a:ext cx="11057839" cy="11430"/>
          </a:xfrm>
          <a:prstGeom prst="rect">
            <a:avLst/>
          </a:prstGeom>
          <a:solidFill>
            <a:srgbClr val="E4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A100FF"/>
                </a:solidFill>
                <a:latin typeface="Arial"/>
              </a:rPr>
              <a:t>ARGUS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33856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C8C8C"/>
                </a:solidFill>
                <a:latin typeface="Arial"/>
              </a:rPr>
              <a:t>Adaptive AI Security Platform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27487" y="649224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Arial"/>
              </a:rPr>
              <a:t>12 / 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evron 2"/>
          <p:cNvSpPr/>
          <p:nvPr/>
        </p:nvSpPr>
        <p:spPr>
          <a:xfrm>
            <a:off x="566928" y="475488"/>
            <a:ext cx="182880" cy="182880"/>
          </a:xfrm>
          <a:prstGeom prst="chevron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A100FF"/>
                </a:solidFill>
                <a:latin typeface="Arial"/>
              </a:rPr>
              <a:t>SECURITY APPROACHES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1A1A1A"/>
                </a:solidFill>
                <a:latin typeface="Arial"/>
              </a:rPr>
              <a:t>Same findings, six expert perspectives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89888"/>
            <a:ext cx="11057839" cy="17780"/>
          </a:xfrm>
          <a:prstGeom prst="rect">
            <a:avLst/>
          </a:prstGeom>
          <a:solidFill>
            <a:srgbClr val="E4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499616"/>
            <a:ext cx="110578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666666"/>
                </a:solidFill>
                <a:latin typeface="Arial"/>
              </a:rPr>
              <a:t>Set one parameter and AI triage + explanations re-frame entirely — serving red teams, blue teams, and control owners from a single scan.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084831"/>
            <a:ext cx="3472586" cy="17830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084831"/>
            <a:ext cx="3472586" cy="100584"/>
          </a:xfrm>
          <a:prstGeom prst="rect">
            <a:avLst/>
          </a:prstGeom>
          <a:solidFill>
            <a:srgbClr val="FF5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2340863"/>
            <a:ext cx="228386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Penetration Testing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60522" y="2359151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F4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60522" y="2359151"/>
            <a:ext cx="86868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6A00C9"/>
                </a:solidFill>
                <a:latin typeface="Arial"/>
              </a:rPr>
              <a:t>DEFAULT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2871215"/>
            <a:ext cx="301538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666666"/>
                </a:solidFill>
                <a:latin typeface="Arial"/>
              </a:rPr>
              <a:t>Reachability, minimal payload, blast radius, exploit chains.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59554" y="2084831"/>
            <a:ext cx="3472586" cy="17830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59554" y="2084831"/>
            <a:ext cx="3472586" cy="100584"/>
          </a:xfrm>
          <a:prstGeom prst="rect">
            <a:avLst/>
          </a:prstGeom>
          <a:solidFill>
            <a:srgbClr val="E0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97298" y="2340863"/>
            <a:ext cx="228386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Adversary Emulation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97298" y="2871215"/>
            <a:ext cx="301538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666666"/>
                </a:solidFill>
                <a:latin typeface="Arial"/>
              </a:rPr>
              <a:t>Maps each finding to MITRE ATT&amp;CK techniques &amp; threat actors.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52180" y="2084831"/>
            <a:ext cx="3472586" cy="17830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52180" y="2084831"/>
            <a:ext cx="3472586" cy="10058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89924" y="2340863"/>
            <a:ext cx="228386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Breach &amp; Attack Sim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89924" y="2871215"/>
            <a:ext cx="301538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666666"/>
                </a:solidFill>
                <a:latin typeface="Arial"/>
              </a:rPr>
              <a:t>Would WAF / SIEM / EDR catch it? Flags control gaps.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4142231"/>
            <a:ext cx="3472586" cy="17830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4142231"/>
            <a:ext cx="3472586" cy="100584"/>
          </a:xfrm>
          <a:prstGeom prst="rect">
            <a:avLst/>
          </a:prstGeom>
          <a:solidFill>
            <a:srgbClr val="5A2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4398263"/>
            <a:ext cx="228386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Assumed Breach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4928615"/>
            <a:ext cx="301538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666666"/>
                </a:solidFill>
                <a:latin typeface="Arial"/>
              </a:rPr>
              <a:t>Post-compromise value: escalation, lateral movement, persistence.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59554" y="4142231"/>
            <a:ext cx="3472586" cy="17830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59554" y="4142231"/>
            <a:ext cx="3472586" cy="100584"/>
          </a:xfrm>
          <a:prstGeom prst="rect">
            <a:avLst/>
          </a:prstGeom>
          <a:solidFill>
            <a:srgbClr val="008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97298" y="4398263"/>
            <a:ext cx="228386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Blue Team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97298" y="4928615"/>
            <a:ext cx="301538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666666"/>
                </a:solidFill>
                <a:latin typeface="Arial"/>
              </a:rPr>
              <a:t>Detection opportunities, log sources, hardening steps.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52180" y="4142231"/>
            <a:ext cx="3472586" cy="17830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52180" y="4142231"/>
            <a:ext cx="3472586" cy="100584"/>
          </a:xfrm>
          <a:prstGeom prst="rect">
            <a:avLst/>
          </a:prstGeom>
          <a:solidFill>
            <a:srgbClr val="00B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89924" y="4398263"/>
            <a:ext cx="228386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Purple Team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89924" y="4928615"/>
            <a:ext cx="301538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666666"/>
                </a:solidFill>
                <a:latin typeface="Arial"/>
              </a:rPr>
              <a:t>Both sides: attack technique + the detection that should fire.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6437376"/>
            <a:ext cx="11057839" cy="11430"/>
          </a:xfrm>
          <a:prstGeom prst="rect">
            <a:avLst/>
          </a:prstGeom>
          <a:solidFill>
            <a:srgbClr val="E4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A100FF"/>
                </a:solidFill>
                <a:latin typeface="Arial"/>
              </a:rPr>
              <a:t>ARGUS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33856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C8C8C"/>
                </a:solidFill>
                <a:latin typeface="Arial"/>
              </a:rPr>
              <a:t>Adaptive AI Security Platform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27487" y="649224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Arial"/>
              </a:rPr>
              <a:t>13 / 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evron 2"/>
          <p:cNvSpPr/>
          <p:nvPr/>
        </p:nvSpPr>
        <p:spPr>
          <a:xfrm>
            <a:off x="566928" y="475488"/>
            <a:ext cx="182880" cy="182880"/>
          </a:xfrm>
          <a:prstGeom prst="chevron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A100FF"/>
                </a:solidFill>
                <a:latin typeface="Arial"/>
              </a:rPr>
              <a:t>HOW THE SYSTEM ADAPTS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1A1A1A"/>
                </a:solidFill>
                <a:latin typeface="Arial"/>
              </a:rPr>
              <a:t>Skills — domain knowledge that activates itself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89888"/>
            <a:ext cx="11057839" cy="17780"/>
          </a:xfrm>
          <a:prstGeom prst="rect">
            <a:avLst/>
          </a:prstGeom>
          <a:solidFill>
            <a:srgbClr val="E4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91640"/>
            <a:ext cx="4937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1A1A1A"/>
                </a:solidFill>
                <a:latin typeface="Arial"/>
              </a:rPr>
              <a:t>A skill is a focused block of security guidance injected into AI prompts at scan time.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514600"/>
            <a:ext cx="502920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200" b="1">
                <a:solidFill>
                  <a:srgbClr val="A100FF"/>
                </a:solidFill>
                <a:latin typeface="Arial"/>
              </a:rPr>
              <a:t>▸  </a:t>
            </a:r>
            <a:r>
              <a:rPr sz="1200">
                <a:solidFill>
                  <a:srgbClr val="666666"/>
                </a:solidFill>
                <a:latin typeface="Arial"/>
              </a:rPr>
              <a:t>Matched automatically by detected language &amp; framework — Django code pulls Django guidance, nothing irrelevant.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200" b="1">
                <a:solidFill>
                  <a:srgbClr val="A100FF"/>
                </a:solidFill>
                <a:latin typeface="Arial"/>
              </a:rPr>
              <a:t>▸  </a:t>
            </a:r>
            <a:r>
              <a:rPr sz="1200">
                <a:solidFill>
                  <a:srgbClr val="666666"/>
                </a:solidFill>
                <a:latin typeface="Arial"/>
              </a:rPr>
              <a:t>Ships with built-ins: Python secure coding, secrets triage, IaC hardening.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200" b="1">
                <a:solidFill>
                  <a:srgbClr val="A100FF"/>
                </a:solidFill>
                <a:latin typeface="Arial"/>
              </a:rPr>
              <a:t>▸  </a:t>
            </a:r>
            <a:r>
              <a:rPr sz="1200">
                <a:solidFill>
                  <a:srgbClr val="666666"/>
                </a:solidFill>
                <a:latin typeface="Arial"/>
              </a:rPr>
              <a:t>Toggle active / inactive per skill — every change is audit-logged.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200" b="1">
                <a:solidFill>
                  <a:srgbClr val="A100FF"/>
                </a:solidFill>
                <a:latin typeface="Arial"/>
              </a:rPr>
              <a:t>▸  </a:t>
            </a:r>
            <a:r>
              <a:rPr sz="1200">
                <a:solidFill>
                  <a:srgbClr val="666666"/>
                </a:solidFill>
                <a:latin typeface="Arial"/>
              </a:rPr>
              <a:t>SkillCreatorAgent writes brand-new skills at runtime for a domain you name.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200" b="1">
                <a:solidFill>
                  <a:srgbClr val="A100FF"/>
                </a:solidFill>
                <a:latin typeface="Arial"/>
              </a:rPr>
              <a:t>▸  </a:t>
            </a:r>
            <a:r>
              <a:rPr sz="1200">
                <a:solidFill>
                  <a:srgbClr val="666666"/>
                </a:solidFill>
                <a:latin typeface="Arial"/>
              </a:rPr>
              <a:t>Generated skills are usable immediately — the platform gets smarter as you use it.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61888" y="1737360"/>
            <a:ext cx="5662879" cy="749808"/>
          </a:xfrm>
          <a:prstGeom prst="roundRect">
            <a:avLst>
              <a:gd name="adj" fmla="val 50000"/>
            </a:avLst>
          </a:prstGeom>
          <a:solidFill>
            <a:srgbClr val="A100FF"/>
          </a:solidFill>
          <a:ln>
            <a:noFill/>
          </a:ln>
          <a:effectLst/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108192" y="1911096"/>
            <a:ext cx="402336" cy="40233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08192" y="19110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A100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1737360"/>
            <a:ext cx="4748479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Scan detects: Python + Django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10447" y="2441448"/>
            <a:ext cx="365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A100FF"/>
                </a:solidFill>
                <a:latin typeface="Arial"/>
              </a:rPr>
              <a:t>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61888" y="2670048"/>
            <a:ext cx="5662879" cy="749808"/>
          </a:xfrm>
          <a:prstGeom prst="roundRect">
            <a:avLst>
              <a:gd name="adj" fmla="val 50000"/>
            </a:avLst>
          </a:prstGeom>
          <a:solidFill>
            <a:srgbClr val="5A2BD9"/>
          </a:solidFill>
          <a:ln>
            <a:noFill/>
          </a:ln>
          <a:effectLst/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108192" y="2843784"/>
            <a:ext cx="402336" cy="40233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08192" y="2843784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5A2BD9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2670048"/>
            <a:ext cx="4748479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Selector matches applicable skills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10447" y="3374136"/>
            <a:ext cx="365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A100FF"/>
                </a:solidFill>
                <a:latin typeface="Arial"/>
              </a:rPr>
              <a:t>▼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61888" y="3602736"/>
            <a:ext cx="5662879" cy="749808"/>
          </a:xfrm>
          <a:prstGeom prst="roundRect">
            <a:avLst>
              <a:gd name="adj" fmla="val 50000"/>
            </a:avLst>
          </a:prstGeom>
          <a:solidFill>
            <a:srgbClr val="008EF0"/>
          </a:solidFill>
          <a:ln>
            <a:noFill/>
          </a:ln>
          <a:effectLst/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108192" y="3776472"/>
            <a:ext cx="402336" cy="40233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08192" y="3776472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008EF0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3602736"/>
            <a:ext cx="4748479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Guidance injected into agent prompts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10447" y="4306824"/>
            <a:ext cx="365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A100FF"/>
                </a:solidFill>
                <a:latin typeface="Arial"/>
              </a:rPr>
              <a:t>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61888" y="4535424"/>
            <a:ext cx="5662879" cy="749808"/>
          </a:xfrm>
          <a:prstGeom prst="roundRect">
            <a:avLst>
              <a:gd name="adj" fmla="val 50000"/>
            </a:avLst>
          </a:prstGeom>
          <a:solidFill>
            <a:srgbClr val="00B5A5"/>
          </a:solidFill>
          <a:ln>
            <a:noFill/>
          </a:ln>
          <a:effectLst/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108192" y="4709160"/>
            <a:ext cx="402336" cy="40233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08192" y="4709160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00B5A5"/>
                </a:solidFill>
                <a:latin typeface="Arial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0" y="4535424"/>
            <a:ext cx="4748479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Sharper triage, explanations &amp; fixes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10447" y="5239512"/>
            <a:ext cx="365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A100FF"/>
                </a:solidFill>
                <a:latin typeface="Arial"/>
              </a:rPr>
              <a:t>▼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61888" y="5468112"/>
            <a:ext cx="5662879" cy="749808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  <a:effectLst/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108192" y="5641848"/>
            <a:ext cx="402336" cy="40233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08192" y="5641848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6A34A"/>
                </a:solidFill>
                <a:latin typeface="Arial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75120" y="5468112"/>
            <a:ext cx="4748479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Missing a domain? Creator authors one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6928" y="6437376"/>
            <a:ext cx="11057839" cy="11430"/>
          </a:xfrm>
          <a:prstGeom prst="rect">
            <a:avLst/>
          </a:prstGeom>
          <a:solidFill>
            <a:srgbClr val="E4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A100FF"/>
                </a:solidFill>
                <a:latin typeface="Arial"/>
              </a:rPr>
              <a:t>ARGUS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33856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C8C8C"/>
                </a:solidFill>
                <a:latin typeface="Arial"/>
              </a:rPr>
              <a:t>Adaptive AI Security Platform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27487" y="649224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Arial"/>
              </a:rPr>
              <a:t>14 / 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37005C"/>
              </a:gs>
              <a:gs pos="55000">
                <a:srgbClr val="A100FF"/>
              </a:gs>
              <a:gs pos="100000">
                <a:srgbClr val="37005C"/>
              </a:gs>
            </a:gsLst>
            <a:lin ang="21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evron 2"/>
          <p:cNvSpPr/>
          <p:nvPr/>
        </p:nvSpPr>
        <p:spPr>
          <a:xfrm>
            <a:off x="8778240" y="1280160"/>
            <a:ext cx="2011680" cy="4206240"/>
          </a:xfrm>
          <a:prstGeom prst="chevron">
            <a:avLst/>
          </a:prstGeom>
          <a:solidFill>
            <a:srgbClr val="B855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evron 3"/>
          <p:cNvSpPr/>
          <p:nvPr/>
        </p:nvSpPr>
        <p:spPr>
          <a:xfrm>
            <a:off x="9784080" y="1280160"/>
            <a:ext cx="2011680" cy="4206240"/>
          </a:xfrm>
          <a:prstGeom prst="chevron">
            <a:avLst/>
          </a:prstGeom>
          <a:solidFill>
            <a:srgbClr val="B855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evron 4"/>
          <p:cNvSpPr/>
          <p:nvPr/>
        </p:nvSpPr>
        <p:spPr>
          <a:xfrm>
            <a:off x="10789920" y="1280160"/>
            <a:ext cx="2011680" cy="4206240"/>
          </a:xfrm>
          <a:prstGeom prst="chevron">
            <a:avLst/>
          </a:prstGeom>
          <a:solidFill>
            <a:srgbClr val="B855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01168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6C6FF"/>
                </a:solidFill>
                <a:latin typeface="Arial"/>
              </a:rPr>
              <a:t>ACT IV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468880"/>
            <a:ext cx="104241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Arial"/>
              </a:rPr>
              <a:t>Govern &amp; Control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3822191"/>
            <a:ext cx="2194560" cy="33020"/>
          </a:xfrm>
          <a:prstGeom prst="rect">
            <a:avLst/>
          </a:prstGeom>
          <a:solidFill>
            <a:srgbClr val="CE8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3977639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E6CFFF"/>
                </a:solidFill>
                <a:latin typeface="Arial"/>
              </a:rPr>
              <a:t>Predictable cost and audit-ready governance, by design.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D9BFF2"/>
                </a:solidFill>
                <a:latin typeface="Arial"/>
              </a:rPr>
              <a:t>15 / 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evron 2"/>
          <p:cNvSpPr/>
          <p:nvPr/>
        </p:nvSpPr>
        <p:spPr>
          <a:xfrm>
            <a:off x="566928" y="475488"/>
            <a:ext cx="182880" cy="182880"/>
          </a:xfrm>
          <a:prstGeom prst="chevron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A100FF"/>
                </a:solidFill>
                <a:latin typeface="Arial"/>
              </a:rPr>
              <a:t>COST DISCIPLINE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1A1A1A"/>
                </a:solidFill>
                <a:latin typeface="Arial"/>
              </a:rPr>
              <a:t>AI spend is a budget, not a surprise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89888"/>
            <a:ext cx="11057839" cy="17780"/>
          </a:xfrm>
          <a:prstGeom prst="rect">
            <a:avLst/>
          </a:prstGeom>
          <a:solidFill>
            <a:srgbClr val="E4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530031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A100FF"/>
                </a:solidFill>
                <a:latin typeface="Arial"/>
              </a:rPr>
              <a:t>EVERY AI CALL, EVERY TIME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057400"/>
            <a:ext cx="5300319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2176272"/>
            <a:ext cx="329184" cy="329184"/>
          </a:xfrm>
          <a:prstGeom prst="ellipse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33856" y="2057400"/>
            <a:ext cx="45687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80" b="1" i="0">
                <a:solidFill>
                  <a:srgbClr val="1A1A1A"/>
                </a:solidFill>
                <a:latin typeface="Arial"/>
              </a:rPr>
              <a:t>Agent requests an AI call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734056"/>
            <a:ext cx="5300319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85800" y="2852928"/>
            <a:ext cx="329184" cy="329184"/>
          </a:xfrm>
          <a:prstGeom prst="ellipse">
            <a:avLst/>
          </a:prstGeom>
          <a:solidFill>
            <a:srgbClr val="5A2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33856" y="2734056"/>
            <a:ext cx="45687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80" b="1" i="0">
                <a:solidFill>
                  <a:srgbClr val="1A1A1A"/>
                </a:solidFill>
                <a:latin typeface="Arial"/>
              </a:rPr>
              <a:t>GovernanceGate checks the budget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410712"/>
            <a:ext cx="5300319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85800" y="3529584"/>
            <a:ext cx="329184" cy="329184"/>
          </a:xfrm>
          <a:prstGeom prst="ellipse">
            <a:avLst/>
          </a:prstGeom>
          <a:solidFill>
            <a:srgbClr val="008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33856" y="3410712"/>
            <a:ext cx="45687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80" b="1" i="0">
                <a:solidFill>
                  <a:srgbClr val="1A1A1A"/>
                </a:solidFill>
                <a:latin typeface="Arial"/>
              </a:rPr>
              <a:t>Routes to the cheapest viable model tier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087368"/>
            <a:ext cx="5300319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85800" y="4206240"/>
            <a:ext cx="329184" cy="329184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33856" y="4087368"/>
            <a:ext cx="45687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80" b="1" i="0">
                <a:solidFill>
                  <a:srgbClr val="1A1A1A"/>
                </a:solidFill>
                <a:latin typeface="Arial"/>
              </a:rPr>
              <a:t>Within budget → call proceeds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764024"/>
            <a:ext cx="5300319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85800" y="4882896"/>
            <a:ext cx="329184" cy="329184"/>
          </a:xfrm>
          <a:prstGeom prst="ellipse">
            <a:avLst/>
          </a:prstGeom>
          <a:solidFill>
            <a:srgbClr val="FF5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33856" y="4764024"/>
            <a:ext cx="45687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80" b="1" i="0">
                <a:solidFill>
                  <a:srgbClr val="1A1A1A"/>
                </a:solidFill>
                <a:latin typeface="Arial"/>
              </a:rPr>
              <a:t>Over budget → blocked, steps skipped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440680"/>
            <a:ext cx="5300319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85800" y="5559552"/>
            <a:ext cx="329184" cy="329184"/>
          </a:xfrm>
          <a:prstGeom prst="ellipse">
            <a:avLst/>
          </a:prstGeom>
          <a:solidFill>
            <a:srgbClr val="6A00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33856" y="5440680"/>
            <a:ext cx="45687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80" b="1" i="0">
                <a:solidFill>
                  <a:srgbClr val="1A1A1A"/>
                </a:solidFill>
                <a:latin typeface="Arial"/>
              </a:rPr>
              <a:t>Tokens + USD written to the cost ledger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24447" y="1645920"/>
            <a:ext cx="530031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A100FF"/>
                </a:solidFill>
                <a:latin typeface="Arial"/>
              </a:rPr>
              <a:t>TIERED MODELS — RIGHT TOOL, RIGHT PRICE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24447" y="2057400"/>
            <a:ext cx="5300319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24447" y="2057400"/>
            <a:ext cx="91440" cy="713232"/>
          </a:xfrm>
          <a:prstGeom prst="rect">
            <a:avLst/>
          </a:prstGeom>
          <a:solidFill>
            <a:srgbClr val="00B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0479" y="2148840"/>
            <a:ext cx="49345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0B5A5"/>
                </a:solidFill>
                <a:latin typeface="Arial"/>
              </a:rPr>
              <a:t>FAST tier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0479" y="2441448"/>
            <a:ext cx="484311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66666"/>
                </a:solidFill>
                <a:latin typeface="Arial"/>
              </a:rPr>
              <a:t>Claude Haiku — cheap, high-volume work like explanations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24447" y="2898648"/>
            <a:ext cx="5300319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324447" y="2898648"/>
            <a:ext cx="91440" cy="713232"/>
          </a:xfrm>
          <a:prstGeom prst="rect">
            <a:avLst/>
          </a:prstGeom>
          <a:solidFill>
            <a:srgbClr val="5A2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0479" y="2990088"/>
            <a:ext cx="49345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5A2BD9"/>
                </a:solidFill>
                <a:latin typeface="Arial"/>
              </a:rPr>
              <a:t>BALANCED tier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0479" y="3282696"/>
            <a:ext cx="484311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66666"/>
                </a:solidFill>
                <a:latin typeface="Arial"/>
              </a:rPr>
              <a:t>Claude Sonnet — default for triage, fixes, patterns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324447" y="3739896"/>
            <a:ext cx="5300319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324447" y="3739896"/>
            <a:ext cx="91440" cy="713232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0479" y="3831336"/>
            <a:ext cx="49345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A100FF"/>
                </a:solidFill>
                <a:latin typeface="Arial"/>
              </a:rPr>
              <a:t>TOP tier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0479" y="4123944"/>
            <a:ext cx="484311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66666"/>
                </a:solidFill>
                <a:latin typeface="Arial"/>
              </a:rPr>
              <a:t>Claude Opus — escalation when confidence is low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324447" y="4754880"/>
            <a:ext cx="5300319" cy="1234440"/>
          </a:xfrm>
          <a:prstGeom prst="roundRect">
            <a:avLst>
              <a:gd name="adj" fmla="val 8000"/>
            </a:avLst>
          </a:prstGeom>
          <a:solidFill>
            <a:srgbClr val="F4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80479" y="4901184"/>
            <a:ext cx="4843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7005C"/>
                </a:solidFill>
                <a:latin typeface="Arial"/>
              </a:rPr>
              <a:t>Per-scan + monthly limits, soft &amp; hard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80479" y="5285232"/>
            <a:ext cx="479739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A100FF"/>
                </a:solidFill>
                <a:latin typeface="Arial"/>
              </a:rPr>
              <a:t>▸  </a:t>
            </a:r>
            <a:r>
              <a:rPr sz="1050">
                <a:solidFill>
                  <a:srgbClr val="666666"/>
                </a:solidFill>
                <a:latin typeface="Arial"/>
              </a:rPr>
              <a:t>Soft limit → live warning event at 80%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A100FF"/>
                </a:solidFill>
                <a:latin typeface="Arial"/>
              </a:rPr>
              <a:t>▸  </a:t>
            </a:r>
            <a:r>
              <a:rPr sz="1050">
                <a:solidFill>
                  <a:srgbClr val="666666"/>
                </a:solidFill>
                <a:latin typeface="Arial"/>
              </a:rPr>
              <a:t>Hard limit → stop spending, keep findings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66928" y="6437376"/>
            <a:ext cx="11057839" cy="11430"/>
          </a:xfrm>
          <a:prstGeom prst="rect">
            <a:avLst/>
          </a:prstGeom>
          <a:solidFill>
            <a:srgbClr val="E4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A100FF"/>
                </a:solidFill>
                <a:latin typeface="Arial"/>
              </a:rPr>
              <a:t>ARGUS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33856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C8C8C"/>
                </a:solidFill>
                <a:latin typeface="Arial"/>
              </a:rPr>
              <a:t>Adaptive AI Security Platform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527487" y="649224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Arial"/>
              </a:rPr>
              <a:t>16 / 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evron 2"/>
          <p:cNvSpPr/>
          <p:nvPr/>
        </p:nvSpPr>
        <p:spPr>
          <a:xfrm>
            <a:off x="566928" y="475488"/>
            <a:ext cx="182880" cy="182880"/>
          </a:xfrm>
          <a:prstGeom prst="chevron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A100FF"/>
                </a:solidFill>
                <a:latin typeface="Arial"/>
              </a:rPr>
              <a:t>GOVERNANCE &amp;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1A1A1A"/>
                </a:solidFill>
                <a:latin typeface="Arial"/>
              </a:rPr>
              <a:t>Built for audits, not bolted on after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89888"/>
            <a:ext cx="11057839" cy="17780"/>
          </a:xfrm>
          <a:prstGeom prst="rect">
            <a:avLst/>
          </a:prstGeom>
          <a:solidFill>
            <a:srgbClr val="E4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83080"/>
            <a:ext cx="3472586" cy="19659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68096" y="200253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1993392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715768"/>
            <a:ext cx="307025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A1A1A"/>
                </a:solidFill>
                <a:latin typeface="Arial"/>
              </a:rPr>
              <a:t>Policy engine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3172968"/>
            <a:ext cx="3070250" cy="448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 i="0">
                <a:solidFill>
                  <a:srgbClr val="666666"/>
                </a:solidFill>
                <a:latin typeface="Arial"/>
              </a:rPr>
              <a:t>Thresholds on critical/high/risk score, blocked OWASP &amp; CWE. Pass/fail in CI via exit code.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59554" y="1783080"/>
            <a:ext cx="3472586" cy="19659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60722" y="200253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5A2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60722" y="1993392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0722" y="2715768"/>
            <a:ext cx="307025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A1A1A"/>
                </a:solidFill>
                <a:latin typeface="Arial"/>
              </a:rPr>
              <a:t>Suppressions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60722" y="3172968"/>
            <a:ext cx="3070250" cy="448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 i="0">
                <a:solidFill>
                  <a:srgbClr val="666666"/>
                </a:solidFill>
                <a:latin typeface="Arial"/>
              </a:rPr>
              <a:t>Rules by fingerprint, path glob, or rule ID — expirable, versioned, plus a .argusignore file.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52180" y="1783080"/>
            <a:ext cx="3472586" cy="19659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353348" y="200253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008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53348" y="1993392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53348" y="2715768"/>
            <a:ext cx="307025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A1A1A"/>
                </a:solidFill>
                <a:latin typeface="Arial"/>
              </a:rPr>
              <a:t>Audit log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53348" y="3172968"/>
            <a:ext cx="3070250" cy="448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 i="0">
                <a:solidFill>
                  <a:srgbClr val="666666"/>
                </a:solidFill>
                <a:latin typeface="Arial"/>
              </a:rPr>
              <a:t>Every privileged action records actor, before, after, timestamp. Immutable and queryable.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4041648"/>
            <a:ext cx="3472586" cy="19659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68096" y="4261104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00B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8096" y="425196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" y="4974336"/>
            <a:ext cx="307025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A1A1A"/>
                </a:solidFill>
                <a:latin typeface="Arial"/>
              </a:rPr>
              <a:t>RBAC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" y="5431536"/>
            <a:ext cx="3070250" cy="448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 i="0">
                <a:solidFill>
                  <a:srgbClr val="666666"/>
                </a:solidFill>
                <a:latin typeface="Arial"/>
              </a:rPr>
              <a:t>viewer · analyst · admin enforced per request. Orgs &amp; workspaces for multi-tenant access.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59554" y="4041648"/>
            <a:ext cx="3472586" cy="19659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560722" y="4261104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60722" y="425196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60722" y="4974336"/>
            <a:ext cx="307025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A1A1A"/>
                </a:solidFill>
                <a:latin typeface="Arial"/>
              </a:rPr>
              <a:t>DAST gate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60722" y="5431536"/>
            <a:ext cx="3070250" cy="448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 i="0">
                <a:solidFill>
                  <a:srgbClr val="666666"/>
                </a:solidFill>
                <a:latin typeface="Arial"/>
              </a:rPr>
              <a:t>Live-app scanners refuse to run without a valid, non-expired target authorization.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52180" y="4041648"/>
            <a:ext cx="3472586" cy="19659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353348" y="4261104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E0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53348" y="425196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53348" y="4974336"/>
            <a:ext cx="307025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A1A1A"/>
                </a:solidFill>
                <a:latin typeface="Arial"/>
              </a:rPr>
              <a:t>Key &amp; secret hygiene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53348" y="5431536"/>
            <a:ext cx="3070250" cy="448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 i="0">
                <a:solidFill>
                  <a:srgbClr val="666666"/>
                </a:solidFill>
                <a:latin typeface="Arial"/>
              </a:rPr>
              <a:t>API keys stored as SHA-256 hashes; secrets redacted before any log, prompt, or DB write.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6928" y="6437376"/>
            <a:ext cx="11057839" cy="11430"/>
          </a:xfrm>
          <a:prstGeom prst="rect">
            <a:avLst/>
          </a:prstGeom>
          <a:solidFill>
            <a:srgbClr val="E4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6928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A100FF"/>
                </a:solidFill>
                <a:latin typeface="Arial"/>
              </a:rPr>
              <a:t>ARGUS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C8C8C"/>
                </a:solidFill>
                <a:latin typeface="Arial"/>
              </a:rPr>
              <a:t>Adaptive AI Security Platform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27487" y="649224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Arial"/>
              </a:rPr>
              <a:t>17 / 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37005C"/>
              </a:gs>
              <a:gs pos="55000">
                <a:srgbClr val="A100FF"/>
              </a:gs>
              <a:gs pos="100000">
                <a:srgbClr val="37005C"/>
              </a:gs>
            </a:gsLst>
            <a:lin ang="21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evron 2"/>
          <p:cNvSpPr/>
          <p:nvPr/>
        </p:nvSpPr>
        <p:spPr>
          <a:xfrm>
            <a:off x="8778240" y="1280160"/>
            <a:ext cx="2011680" cy="4206240"/>
          </a:xfrm>
          <a:prstGeom prst="chevron">
            <a:avLst/>
          </a:prstGeom>
          <a:solidFill>
            <a:srgbClr val="B855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evron 3"/>
          <p:cNvSpPr/>
          <p:nvPr/>
        </p:nvSpPr>
        <p:spPr>
          <a:xfrm>
            <a:off x="9784080" y="1280160"/>
            <a:ext cx="2011680" cy="4206240"/>
          </a:xfrm>
          <a:prstGeom prst="chevron">
            <a:avLst/>
          </a:prstGeom>
          <a:solidFill>
            <a:srgbClr val="B855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evron 4"/>
          <p:cNvSpPr/>
          <p:nvPr/>
        </p:nvSpPr>
        <p:spPr>
          <a:xfrm>
            <a:off x="10789920" y="1280160"/>
            <a:ext cx="2011680" cy="4206240"/>
          </a:xfrm>
          <a:prstGeom prst="chevron">
            <a:avLst/>
          </a:prstGeom>
          <a:solidFill>
            <a:srgbClr val="B855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01168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6C6FF"/>
                </a:solidFill>
                <a:latin typeface="Arial"/>
              </a:rPr>
              <a:t>ACT 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468880"/>
            <a:ext cx="104241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Arial"/>
              </a:rPr>
              <a:t>Put It to Work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3822191"/>
            <a:ext cx="2194560" cy="33020"/>
          </a:xfrm>
          <a:prstGeom prst="rect">
            <a:avLst/>
          </a:prstGeom>
          <a:solidFill>
            <a:srgbClr val="CE8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3977639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E6CFFF"/>
                </a:solidFill>
                <a:latin typeface="Arial"/>
              </a:rPr>
              <a:t>How an individual developer and a whole enterprise deploy Argus.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D9BFF2"/>
                </a:solidFill>
                <a:latin typeface="Arial"/>
              </a:rPr>
              <a:t>18 / 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evron 2"/>
          <p:cNvSpPr/>
          <p:nvPr/>
        </p:nvSpPr>
        <p:spPr>
          <a:xfrm>
            <a:off x="566928" y="475488"/>
            <a:ext cx="182880" cy="182880"/>
          </a:xfrm>
          <a:prstGeom prst="chevron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A100FF"/>
                </a:solidFill>
                <a:latin typeface="Arial"/>
              </a:rPr>
              <a:t>INDIVIDUAL DEVELOPER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1A1A1A"/>
                </a:solidFill>
                <a:latin typeface="Arial"/>
              </a:rPr>
              <a:t>Stay in flow — security in the editor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89888"/>
            <a:ext cx="11057839" cy="17780"/>
          </a:xfrm>
          <a:prstGeom prst="rect">
            <a:avLst/>
          </a:prstGeom>
          <a:solidFill>
            <a:srgbClr val="E4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5300319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49808" y="1984248"/>
            <a:ext cx="457200" cy="457200"/>
          </a:xfrm>
          <a:prstGeom prst="ellipse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98424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1856232"/>
            <a:ext cx="438591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Arial"/>
              </a:rPr>
              <a:t>Install &amp; run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167128"/>
            <a:ext cx="438591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666666"/>
                </a:solidFill>
                <a:latin typeface="Courier New"/>
              </a:rPr>
              <a:t>docker compose up -d
uvicorn core.api.app:app --reload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16352"/>
            <a:ext cx="5300319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49808" y="3063240"/>
            <a:ext cx="457200" cy="457200"/>
          </a:xfrm>
          <a:prstGeom prst="ellipse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306324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35224"/>
            <a:ext cx="438591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Arial"/>
              </a:rPr>
              <a:t>Scan locally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44168" y="3246120"/>
            <a:ext cx="438591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666666"/>
                </a:solidFill>
                <a:latin typeface="Courier New"/>
              </a:rPr>
              <a:t>POST /api/v1/scans
{ target_ref: "./my-app",
  pipeline_config_name: "real-time" }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895344"/>
            <a:ext cx="5300319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49808" y="4142232"/>
            <a:ext cx="457200" cy="457200"/>
          </a:xfrm>
          <a:prstGeom prst="ellipse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414223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44168" y="4014216"/>
            <a:ext cx="438591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Arial"/>
              </a:rPr>
              <a:t>Review findings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44168" y="4325112"/>
            <a:ext cx="438591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666666"/>
                </a:solidFill>
                <a:latin typeface="Courier New"/>
              </a:rPr>
              <a:t>GET /scans/{id}/findings?q=sql
Ranked, de-duped, explained in context.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4974336"/>
            <a:ext cx="5300319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49808" y="5221224"/>
            <a:ext cx="457200" cy="457200"/>
          </a:xfrm>
          <a:prstGeom prst="ellipse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22122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4168" y="5093208"/>
            <a:ext cx="438591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Arial"/>
              </a:rPr>
              <a:t>Apply the AI fix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44168" y="5404104"/>
            <a:ext cx="438591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666666"/>
                </a:solidFill>
                <a:latin typeface="Courier New"/>
              </a:rPr>
              <a:t>POST /fixes/{id}/apply
Opens a PR with the diff + test.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24447" y="1737360"/>
            <a:ext cx="5300319" cy="4206240"/>
          </a:xfrm>
          <a:prstGeom prst="roundRect">
            <a:avLst>
              <a:gd name="adj" fmla="val 7000"/>
            </a:avLst>
          </a:prstGeom>
          <a:gradFill rotWithShape="1">
            <a:gsLst>
              <a:gs pos="0">
                <a:srgbClr val="6A00C9"/>
              </a:gs>
              <a:gs pos="55000">
                <a:srgbClr val="A100FF"/>
              </a:gs>
              <a:gs pos="100000">
                <a:srgbClr val="6A00C9"/>
              </a:gs>
            </a:gsLst>
            <a:lin ang="3300000" scaled="1"/>
          </a:gradFill>
          <a:ln>
            <a:noFill/>
          </a:ln>
          <a:effectLst/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644487" y="2011680"/>
            <a:ext cx="640080" cy="64008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44487" y="2002536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6A00C9"/>
                </a:solidFill>
                <a:latin typeface="Arial"/>
              </a:rPr>
              <a:t>{ }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44487" y="2788920"/>
            <a:ext cx="46602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VS Code Extension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44487" y="3383280"/>
            <a:ext cx="4660239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250" b="1">
                <a:solidFill>
                  <a:srgbClr val="EACBFF"/>
                </a:solidFill>
                <a:latin typeface="Arial"/>
              </a:rPr>
              <a:t>✓  </a:t>
            </a:r>
            <a:r>
              <a:rPr sz="1250">
                <a:solidFill>
                  <a:srgbClr val="FFFFFF"/>
                </a:solidFill>
                <a:latin typeface="Arial"/>
              </a:rPr>
              <a:t>Inline finding highlights as you type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ACBFF"/>
                </a:solidFill>
                <a:latin typeface="Arial"/>
              </a:rPr>
              <a:t>✓  </a:t>
            </a:r>
            <a:r>
              <a:rPr sz="1250">
                <a:solidFill>
                  <a:srgbClr val="FFFFFF"/>
                </a:solidFill>
                <a:latin typeface="Arial"/>
              </a:rPr>
              <a:t>One-click AI fix application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ACBFF"/>
                </a:solidFill>
                <a:latin typeface="Arial"/>
              </a:rPr>
              <a:t>✓  </a:t>
            </a:r>
            <a:r>
              <a:rPr sz="1250">
                <a:solidFill>
                  <a:srgbClr val="FFFFFF"/>
                </a:solidFill>
                <a:latin typeface="Arial"/>
              </a:rPr>
              <a:t>Real-time diff-only scanning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ACBFF"/>
                </a:solidFill>
                <a:latin typeface="Arial"/>
              </a:rPr>
              <a:t>✓  </a:t>
            </a:r>
            <a:r>
              <a:rPr sz="1250">
                <a:solidFill>
                  <a:srgbClr val="FFFFFF"/>
                </a:solidFill>
                <a:latin typeface="Arial"/>
              </a:rPr>
              <a:t>Live cost budget in the status bar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ACBFF"/>
                </a:solidFill>
                <a:latin typeface="Arial"/>
              </a:rPr>
              <a:t>✓  </a:t>
            </a:r>
            <a:r>
              <a:rPr sz="1250">
                <a:solidFill>
                  <a:srgbClr val="FFFFFF"/>
                </a:solidFill>
                <a:latin typeface="Arial"/>
              </a:rPr>
              <a:t>Zero context-switching — never leave the editor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6437376"/>
            <a:ext cx="11057839" cy="11430"/>
          </a:xfrm>
          <a:prstGeom prst="rect">
            <a:avLst/>
          </a:prstGeom>
          <a:solidFill>
            <a:srgbClr val="E4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A100FF"/>
                </a:solidFill>
                <a:latin typeface="Arial"/>
              </a:rPr>
              <a:t>ARGUS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6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C8C8C"/>
                </a:solidFill>
                <a:latin typeface="Arial"/>
              </a:rPr>
              <a:t>Adaptive AI Security Platform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27487" y="649224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Arial"/>
              </a:rPr>
              <a:t>19 / 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evron 2"/>
          <p:cNvSpPr/>
          <p:nvPr/>
        </p:nvSpPr>
        <p:spPr>
          <a:xfrm>
            <a:off x="566928" y="475488"/>
            <a:ext cx="182880" cy="182880"/>
          </a:xfrm>
          <a:prstGeom prst="chevron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A100FF"/>
                </a:solidFill>
                <a:latin typeface="Arial"/>
              </a:rPr>
              <a:t>ENTERPRISE DEPLOYMENT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1A1A1A"/>
                </a:solidFill>
                <a:latin typeface="Arial"/>
              </a:rPr>
              <a:t>Org-wide coverage with guardrails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89888"/>
            <a:ext cx="11057839" cy="17780"/>
          </a:xfrm>
          <a:prstGeom prst="rect">
            <a:avLst/>
          </a:prstGeom>
          <a:solidFill>
            <a:srgbClr val="E4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83080"/>
            <a:ext cx="5300319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2057400"/>
            <a:ext cx="603504" cy="603504"/>
          </a:xfrm>
          <a:prstGeom prst="roundRect">
            <a:avLst>
              <a:gd name="adj" fmla="val 28000"/>
            </a:avLst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048256"/>
            <a:ext cx="603504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9343" y="2093976"/>
            <a:ext cx="40658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Arial"/>
              </a:rPr>
              <a:t>CI/CD gating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9343" y="2569464"/>
            <a:ext cx="4065879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666666"/>
                </a:solidFill>
                <a:latin typeface="Arial"/>
              </a:rPr>
              <a:t>Webhooks scan every PR. ci-gate blocks merges that breach policy. Nightly cron scans the whole estate.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24447" y="1783080"/>
            <a:ext cx="5300319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580479" y="2057400"/>
            <a:ext cx="603504" cy="603504"/>
          </a:xfrm>
          <a:prstGeom prst="roundRect">
            <a:avLst>
              <a:gd name="adj" fmla="val 28000"/>
            </a:avLst>
          </a:prstGeom>
          <a:solidFill>
            <a:srgbClr val="5A2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0479" y="2048256"/>
            <a:ext cx="603504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◫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66862" y="2093976"/>
            <a:ext cx="40658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Arial"/>
              </a:rPr>
              <a:t>Security operations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66862" y="2569464"/>
            <a:ext cx="4065879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666666"/>
                </a:solidFill>
                <a:latin typeface="Arial"/>
              </a:rPr>
              <a:t>Orgs &amp; workspaces per team. Analysts triage, admins configure. Bulk-assign, suppress, and dismiss at scale.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041648"/>
            <a:ext cx="5300319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2960" y="4315968"/>
            <a:ext cx="603504" cy="603504"/>
          </a:xfrm>
          <a:prstGeom prst="roundRect">
            <a:avLst>
              <a:gd name="adj" fmla="val 28000"/>
            </a:avLst>
          </a:prstGeom>
          <a:solidFill>
            <a:srgbClr val="00B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306824"/>
            <a:ext cx="603504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9343" y="4352544"/>
            <a:ext cx="40658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Arial"/>
              </a:rPr>
              <a:t>Compliance &amp; reporting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9343" y="4828032"/>
            <a:ext cx="4065879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666666"/>
                </a:solidFill>
                <a:latin typeface="Arial"/>
              </a:rPr>
              <a:t>OWASP / CWE reports, CycloneDX SBOM per scan, CSV export, and persisted policy evaluations for auditors.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24447" y="4041648"/>
            <a:ext cx="5300319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580479" y="4315968"/>
            <a:ext cx="603504" cy="603504"/>
          </a:xfrm>
          <a:prstGeom prst="roundRect">
            <a:avLst>
              <a:gd name="adj" fmla="val 28000"/>
            </a:avLst>
          </a:prstGeom>
          <a:solidFill>
            <a:srgbClr val="008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0479" y="4306824"/>
            <a:ext cx="603504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◎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66862" y="4352544"/>
            <a:ext cx="40658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Arial"/>
              </a:rPr>
              <a:t>Observability &amp; SRE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66862" y="4828032"/>
            <a:ext cx="4065879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666666"/>
                </a:solidFill>
                <a:latin typeface="Arial"/>
              </a:rPr>
              <a:t>Prometheus metrics, OpenTelemetry tracing, PagerDuty incidents, Jira tickets, Slack alerts — wired in.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" y="6437376"/>
            <a:ext cx="11057839" cy="11430"/>
          </a:xfrm>
          <a:prstGeom prst="rect">
            <a:avLst/>
          </a:prstGeom>
          <a:solidFill>
            <a:srgbClr val="E4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A100FF"/>
                </a:solidFill>
                <a:latin typeface="Arial"/>
              </a:rPr>
              <a:t>ARGUS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C8C8C"/>
                </a:solidFill>
                <a:latin typeface="Arial"/>
              </a:rPr>
              <a:t>Adaptive AI Security Platform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27487" y="649224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Arial"/>
              </a:rPr>
              <a:t>20 / 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evron 2"/>
          <p:cNvSpPr/>
          <p:nvPr/>
        </p:nvSpPr>
        <p:spPr>
          <a:xfrm>
            <a:off x="566928" y="475488"/>
            <a:ext cx="182880" cy="182880"/>
          </a:xfrm>
          <a:prstGeom prst="chevron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A100FF"/>
                </a:solidFill>
                <a:latin typeface="Arial"/>
              </a:rPr>
              <a:t>GETTING STARTED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1A1A1A"/>
                </a:solidFill>
                <a:latin typeface="Arial"/>
              </a:rPr>
              <a:t>From clone to first finding in five minutes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89888"/>
            <a:ext cx="11057839" cy="17780"/>
          </a:xfrm>
          <a:prstGeom prst="rect">
            <a:avLst/>
          </a:prstGeom>
          <a:solidFill>
            <a:srgbClr val="E4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1856232"/>
            <a:ext cx="438912" cy="438912"/>
          </a:xfrm>
          <a:prstGeom prst="ellipse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856232"/>
            <a:ext cx="438912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1737360"/>
            <a:ext cx="246888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Arial"/>
              </a:rPr>
              <a:t>Prerequisites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50208" y="1737360"/>
            <a:ext cx="7491679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66666"/>
                </a:solidFill>
                <a:latin typeface="Courier New"/>
              </a:rPr>
              <a:t>Python 3.12+ · Docker · uv · an ANTHROPIC_API_KEY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505456"/>
            <a:ext cx="11057839" cy="676656"/>
          </a:xfrm>
          <a:prstGeom prst="roundRect">
            <a:avLst>
              <a:gd name="adj" fmla="val 6000"/>
            </a:avLst>
          </a:prstGeom>
          <a:solidFill>
            <a:srgbClr val="F7F4FC"/>
          </a:solidFill>
          <a:ln w="9525">
            <a:solidFill>
              <a:srgbClr val="E4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2624328"/>
            <a:ext cx="438912" cy="438912"/>
          </a:xfrm>
          <a:prstGeom prst="ellipse">
            <a:avLst/>
          </a:prstGeom>
          <a:solidFill>
            <a:srgbClr val="5A2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624328"/>
            <a:ext cx="438912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505456"/>
            <a:ext cx="246888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Arial"/>
              </a:rPr>
              <a:t>Install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50208" y="2505456"/>
            <a:ext cx="7491679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66666"/>
                </a:solidFill>
                <a:latin typeface="Courier New"/>
              </a:rPr>
              <a:t>git clone … &amp;&amp; cd argus  ·  uv venv &amp;&amp; uv pip install -e ".[dev]"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273552"/>
            <a:ext cx="11057839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3392424"/>
            <a:ext cx="438912" cy="438912"/>
          </a:xfrm>
          <a:prstGeom prst="ellipse">
            <a:avLst/>
          </a:prstGeom>
          <a:solidFill>
            <a:srgbClr val="008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392424"/>
            <a:ext cx="438912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44168" y="3273552"/>
            <a:ext cx="246888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Arial"/>
              </a:rPr>
              <a:t>Start infrastructure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50208" y="3273552"/>
            <a:ext cx="7491679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66666"/>
                </a:solidFill>
                <a:latin typeface="Courier New"/>
              </a:rPr>
              <a:t>docker compose up -d   (PostgreSQL + gateway)  ·  alembic upgrade head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4041648"/>
            <a:ext cx="11057839" cy="676656"/>
          </a:xfrm>
          <a:prstGeom prst="roundRect">
            <a:avLst>
              <a:gd name="adj" fmla="val 6000"/>
            </a:avLst>
          </a:prstGeom>
          <a:solidFill>
            <a:srgbClr val="F7F4FC"/>
          </a:solidFill>
          <a:ln w="9525">
            <a:solidFill>
              <a:srgbClr val="E4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31520" y="4160520"/>
            <a:ext cx="438912" cy="438912"/>
          </a:xfrm>
          <a:prstGeom prst="ellipse">
            <a:avLst/>
          </a:prstGeom>
          <a:solidFill>
            <a:srgbClr val="00B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160520"/>
            <a:ext cx="438912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4168" y="4041648"/>
            <a:ext cx="246888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Arial"/>
              </a:rPr>
              <a:t>Run the API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50208" y="4041648"/>
            <a:ext cx="7491679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66666"/>
                </a:solidFill>
                <a:latin typeface="Courier New"/>
              </a:rPr>
              <a:t>uvicorn core.api.app:app --reload --port 8000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4809744"/>
            <a:ext cx="11057839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31520" y="4928616"/>
            <a:ext cx="438912" cy="438912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4928616"/>
            <a:ext cx="438912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44168" y="4809744"/>
            <a:ext cx="246888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Arial"/>
              </a:rPr>
              <a:t>First scan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50208" y="4809744"/>
            <a:ext cx="7491679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66666"/>
                </a:solidFill>
                <a:latin typeface="Courier New"/>
              </a:rPr>
              <a:t>curl -X POST localhost:8000/api/v1/scans -d '{"target_ref":".","pipeline_config_name":"full-scan"}'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5577840"/>
            <a:ext cx="11057839" cy="676656"/>
          </a:xfrm>
          <a:prstGeom prst="roundRect">
            <a:avLst>
              <a:gd name="adj" fmla="val 6000"/>
            </a:avLst>
          </a:prstGeom>
          <a:solidFill>
            <a:srgbClr val="F7F4FC"/>
          </a:solidFill>
          <a:ln w="9525">
            <a:solidFill>
              <a:srgbClr val="E4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31520" y="5696712"/>
            <a:ext cx="438912" cy="438912"/>
          </a:xfrm>
          <a:prstGeom prst="ellipse">
            <a:avLst/>
          </a:prstGeom>
          <a:solidFill>
            <a:srgbClr val="6A00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5696712"/>
            <a:ext cx="438912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5577840"/>
            <a:ext cx="246888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Arial"/>
              </a:rPr>
              <a:t>Explore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950208" y="5577840"/>
            <a:ext cx="7491679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66666"/>
                </a:solidFill>
                <a:latin typeface="Courier New"/>
              </a:rPr>
              <a:t>Open localhost:8000/docs  →  interactive Swagger UI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6928" y="6437376"/>
            <a:ext cx="11057839" cy="11430"/>
          </a:xfrm>
          <a:prstGeom prst="rect">
            <a:avLst/>
          </a:prstGeom>
          <a:solidFill>
            <a:srgbClr val="E4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6928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A100FF"/>
                </a:solidFill>
                <a:latin typeface="Arial"/>
              </a:rPr>
              <a:t>ARGUS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C8C8C"/>
                </a:solidFill>
                <a:latin typeface="Arial"/>
              </a:rPr>
              <a:t>Adaptive AI Security Platform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27487" y="649224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Arial"/>
              </a:rPr>
              <a:t>21 / 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37005C"/>
              </a:gs>
              <a:gs pos="55000">
                <a:srgbClr val="A100FF"/>
              </a:gs>
              <a:gs pos="100000">
                <a:srgbClr val="37005C"/>
              </a:gs>
            </a:gsLst>
            <a:lin ang="21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evron 2"/>
          <p:cNvSpPr/>
          <p:nvPr/>
        </p:nvSpPr>
        <p:spPr>
          <a:xfrm>
            <a:off x="8778240" y="1280160"/>
            <a:ext cx="2011680" cy="4206240"/>
          </a:xfrm>
          <a:prstGeom prst="chevron">
            <a:avLst/>
          </a:prstGeom>
          <a:solidFill>
            <a:srgbClr val="B855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evron 3"/>
          <p:cNvSpPr/>
          <p:nvPr/>
        </p:nvSpPr>
        <p:spPr>
          <a:xfrm>
            <a:off x="9784080" y="1280160"/>
            <a:ext cx="2011680" cy="4206240"/>
          </a:xfrm>
          <a:prstGeom prst="chevron">
            <a:avLst/>
          </a:prstGeom>
          <a:solidFill>
            <a:srgbClr val="B855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evron 4"/>
          <p:cNvSpPr/>
          <p:nvPr/>
        </p:nvSpPr>
        <p:spPr>
          <a:xfrm>
            <a:off x="10789920" y="1280160"/>
            <a:ext cx="2011680" cy="4206240"/>
          </a:xfrm>
          <a:prstGeom prst="chevron">
            <a:avLst/>
          </a:prstGeom>
          <a:solidFill>
            <a:srgbClr val="B855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01168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6C6FF"/>
                </a:solidFill>
                <a:latin typeface="Arial"/>
              </a:rPr>
              <a:t>ACT VI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468880"/>
            <a:ext cx="104241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Arial"/>
              </a:rPr>
              <a:t>Under the Hood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3822191"/>
            <a:ext cx="2194560" cy="33020"/>
          </a:xfrm>
          <a:prstGeom prst="rect">
            <a:avLst/>
          </a:prstGeom>
          <a:solidFill>
            <a:srgbClr val="CE8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3977639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E6CFFF"/>
                </a:solidFill>
                <a:latin typeface="Arial"/>
              </a:rPr>
              <a:t>Stack, delivery roadmap, and the business case.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D9BFF2"/>
                </a:solidFill>
                <a:latin typeface="Arial"/>
              </a:rPr>
              <a:t>22 / 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evron 2"/>
          <p:cNvSpPr/>
          <p:nvPr/>
        </p:nvSpPr>
        <p:spPr>
          <a:xfrm>
            <a:off x="566928" y="475488"/>
            <a:ext cx="182880" cy="182880"/>
          </a:xfrm>
          <a:prstGeom prst="chevron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A100FF"/>
                </a:solidFill>
                <a:latin typeface="Arial"/>
              </a:rPr>
              <a:t>TECHNOLOGY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1A1A1A"/>
                </a:solidFill>
                <a:latin typeface="Arial"/>
              </a:rPr>
              <a:t>Modern, typed, async, observable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89888"/>
            <a:ext cx="11057839" cy="17780"/>
          </a:xfrm>
          <a:prstGeom prst="rect">
            <a:avLst/>
          </a:prstGeom>
          <a:solidFill>
            <a:srgbClr val="E4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91640"/>
            <a:ext cx="3472586" cy="2057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6928" y="1691640"/>
            <a:ext cx="3472586" cy="475488"/>
          </a:xfrm>
          <a:prstGeom prst="roundRect">
            <a:avLst>
              <a:gd name="adj" fmla="val 8000"/>
            </a:avLst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929384"/>
            <a:ext cx="3472586" cy="237744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691640"/>
            <a:ext cx="3106826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Arial"/>
              </a:rPr>
              <a:t>Backend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313432"/>
            <a:ext cx="3015386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80" b="1">
                <a:solidFill>
                  <a:srgbClr val="A100FF"/>
                </a:solidFill>
                <a:latin typeface="Arial"/>
              </a:rPr>
              <a:t>▸  </a:t>
            </a:r>
            <a:r>
              <a:rPr sz="1080">
                <a:solidFill>
                  <a:srgbClr val="666666"/>
                </a:solidFill>
                <a:latin typeface="Arial"/>
              </a:rPr>
              <a:t>Python 3.12 · FastAPI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80" b="1">
                <a:solidFill>
                  <a:srgbClr val="A100FF"/>
                </a:solidFill>
                <a:latin typeface="Arial"/>
              </a:rPr>
              <a:t>▸  </a:t>
            </a:r>
            <a:r>
              <a:rPr sz="1080">
                <a:solidFill>
                  <a:srgbClr val="666666"/>
                </a:solidFill>
                <a:latin typeface="Arial"/>
              </a:rPr>
              <a:t>Pydantic v2 (strict)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80" b="1">
                <a:solidFill>
                  <a:srgbClr val="A100FF"/>
                </a:solidFill>
                <a:latin typeface="Arial"/>
              </a:rPr>
              <a:t>▸  </a:t>
            </a:r>
            <a:r>
              <a:rPr sz="1080">
                <a:solidFill>
                  <a:srgbClr val="666666"/>
                </a:solidFill>
                <a:latin typeface="Arial"/>
              </a:rPr>
              <a:t>SQLAlchemy 2 async · asyncpg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80" b="1">
                <a:solidFill>
                  <a:srgbClr val="A100FF"/>
                </a:solidFill>
                <a:latin typeface="Arial"/>
              </a:rPr>
              <a:t>▸  </a:t>
            </a:r>
            <a:r>
              <a:rPr sz="1080">
                <a:solidFill>
                  <a:srgbClr val="666666"/>
                </a:solidFill>
                <a:latin typeface="Arial"/>
              </a:rPr>
              <a:t>Alembic migrations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80" b="1">
                <a:solidFill>
                  <a:srgbClr val="A100FF"/>
                </a:solidFill>
                <a:latin typeface="Arial"/>
              </a:rPr>
              <a:t>▸  </a:t>
            </a:r>
            <a:r>
              <a:rPr sz="1080">
                <a:solidFill>
                  <a:srgbClr val="666666"/>
                </a:solidFill>
                <a:latin typeface="Arial"/>
              </a:rPr>
              <a:t>structlog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59554" y="1691640"/>
            <a:ext cx="3472586" cy="2057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59554" y="1691640"/>
            <a:ext cx="3472586" cy="475488"/>
          </a:xfrm>
          <a:prstGeom prst="roundRect">
            <a:avLst>
              <a:gd name="adj" fmla="val 8000"/>
            </a:avLst>
          </a:prstGeom>
          <a:solidFill>
            <a:srgbClr val="5A2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59554" y="1929384"/>
            <a:ext cx="3472586" cy="237744"/>
          </a:xfrm>
          <a:prstGeom prst="rect">
            <a:avLst/>
          </a:prstGeom>
          <a:solidFill>
            <a:srgbClr val="5A2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9010" y="1691640"/>
            <a:ext cx="3106826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Arial"/>
              </a:rPr>
              <a:t>AI / LLM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7298" y="2313432"/>
            <a:ext cx="3015386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80" b="1">
                <a:solidFill>
                  <a:srgbClr val="5A2BD9"/>
                </a:solidFill>
                <a:latin typeface="Arial"/>
              </a:rPr>
              <a:t>▸  </a:t>
            </a:r>
            <a:r>
              <a:rPr sz="1080">
                <a:solidFill>
                  <a:srgbClr val="666666"/>
                </a:solidFill>
                <a:latin typeface="Arial"/>
              </a:rPr>
              <a:t>Anthropic Claude (3 tiers)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80" b="1">
                <a:solidFill>
                  <a:srgbClr val="5A2BD9"/>
                </a:solidFill>
                <a:latin typeface="Arial"/>
              </a:rPr>
              <a:t>▸  </a:t>
            </a:r>
            <a:r>
              <a:rPr sz="1080">
                <a:solidFill>
                  <a:srgbClr val="666666"/>
                </a:solidFill>
                <a:latin typeface="Arial"/>
              </a:rPr>
              <a:t>Provider-agnostic routing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80" b="1">
                <a:solidFill>
                  <a:srgbClr val="5A2BD9"/>
                </a:solidFill>
                <a:latin typeface="Arial"/>
              </a:rPr>
              <a:t>▸  </a:t>
            </a:r>
            <a:r>
              <a:rPr sz="1080">
                <a:solidFill>
                  <a:srgbClr val="666666"/>
                </a:solidFill>
                <a:latin typeface="Arial"/>
              </a:rPr>
              <a:t>GovernanceGate budgets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80" b="1">
                <a:solidFill>
                  <a:srgbClr val="5A2BD9"/>
                </a:solidFill>
                <a:latin typeface="Arial"/>
              </a:rPr>
              <a:t>▸  </a:t>
            </a:r>
            <a:r>
              <a:rPr sz="1080">
                <a:solidFill>
                  <a:srgbClr val="666666"/>
                </a:solidFill>
                <a:latin typeface="Arial"/>
              </a:rPr>
              <a:t>Per-scan token ledger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80" b="1">
                <a:solidFill>
                  <a:srgbClr val="5A2BD9"/>
                </a:solidFill>
                <a:latin typeface="Arial"/>
              </a:rPr>
              <a:t>▸  </a:t>
            </a:r>
            <a:r>
              <a:rPr sz="1080">
                <a:solidFill>
                  <a:srgbClr val="666666"/>
                </a:solidFill>
                <a:latin typeface="Arial"/>
              </a:rPr>
              <a:t>Batch mode savings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52180" y="1691640"/>
            <a:ext cx="3472586" cy="2057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152180" y="1691640"/>
            <a:ext cx="3472586" cy="475488"/>
          </a:xfrm>
          <a:prstGeom prst="roundRect">
            <a:avLst>
              <a:gd name="adj" fmla="val 8000"/>
            </a:avLst>
          </a:prstGeom>
          <a:solidFill>
            <a:srgbClr val="00B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52180" y="1929384"/>
            <a:ext cx="3472586" cy="237744"/>
          </a:xfrm>
          <a:prstGeom prst="rect">
            <a:avLst/>
          </a:prstGeom>
          <a:solidFill>
            <a:srgbClr val="00B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71636" y="1691640"/>
            <a:ext cx="3106826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Arial"/>
              </a:rPr>
              <a:t>Scanners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89924" y="2313432"/>
            <a:ext cx="3015386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80" b="1">
                <a:solidFill>
                  <a:srgbClr val="00B5A5"/>
                </a:solidFill>
                <a:latin typeface="Arial"/>
              </a:rPr>
              <a:t>▸  </a:t>
            </a:r>
            <a:r>
              <a:rPr sz="1080">
                <a:solidFill>
                  <a:srgbClr val="666666"/>
                </a:solidFill>
                <a:latin typeface="Arial"/>
              </a:rPr>
              <a:t>Semgrep (SAST)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80" b="1">
                <a:solidFill>
                  <a:srgbClr val="00B5A5"/>
                </a:solidFill>
                <a:latin typeface="Arial"/>
              </a:rPr>
              <a:t>▸  </a:t>
            </a:r>
            <a:r>
              <a:rPr sz="1080">
                <a:solidFill>
                  <a:srgbClr val="666666"/>
                </a:solidFill>
                <a:latin typeface="Arial"/>
              </a:rPr>
              <a:t>TruffleHog (secrets)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80" b="1">
                <a:solidFill>
                  <a:srgbClr val="00B5A5"/>
                </a:solidFill>
                <a:latin typeface="Arial"/>
              </a:rPr>
              <a:t>▸  </a:t>
            </a:r>
            <a:r>
              <a:rPr sz="1080">
                <a:solidFill>
                  <a:srgbClr val="666666"/>
                </a:solidFill>
                <a:latin typeface="Arial"/>
              </a:rPr>
              <a:t>Grype (SCA)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80" b="1">
                <a:solidFill>
                  <a:srgbClr val="00B5A5"/>
                </a:solidFill>
                <a:latin typeface="Arial"/>
              </a:rPr>
              <a:t>▸  </a:t>
            </a:r>
            <a:r>
              <a:rPr sz="1080">
                <a:solidFill>
                  <a:srgbClr val="666666"/>
                </a:solidFill>
                <a:latin typeface="Arial"/>
              </a:rPr>
              <a:t>Checkov (IaC)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80" b="1">
                <a:solidFill>
                  <a:srgbClr val="00B5A5"/>
                </a:solidFill>
                <a:latin typeface="Arial"/>
              </a:rPr>
              <a:t>▸  </a:t>
            </a:r>
            <a:r>
              <a:rPr sz="1080">
                <a:solidFill>
                  <a:srgbClr val="666666"/>
                </a:solidFill>
                <a:latin typeface="Arial"/>
              </a:rPr>
              <a:t>Nuclei + ZAP (DAST)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4023360"/>
            <a:ext cx="3472586" cy="2057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66928" y="4023360"/>
            <a:ext cx="3472586" cy="475488"/>
          </a:xfrm>
          <a:prstGeom prst="roundRect">
            <a:avLst>
              <a:gd name="adj" fmla="val 8000"/>
            </a:avLst>
          </a:prstGeom>
          <a:solidFill>
            <a:srgbClr val="008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6928" y="4261104"/>
            <a:ext cx="3472586" cy="237744"/>
          </a:xfrm>
          <a:prstGeom prst="rect">
            <a:avLst/>
          </a:prstGeom>
          <a:solidFill>
            <a:srgbClr val="008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6384" y="4023360"/>
            <a:ext cx="3106826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Arial"/>
              </a:rPr>
              <a:t>Data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" y="4645152"/>
            <a:ext cx="3015386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80" b="1">
                <a:solidFill>
                  <a:srgbClr val="008EF0"/>
                </a:solidFill>
                <a:latin typeface="Arial"/>
              </a:rPr>
              <a:t>▸  </a:t>
            </a:r>
            <a:r>
              <a:rPr sz="1080">
                <a:solidFill>
                  <a:srgbClr val="666666"/>
                </a:solidFill>
                <a:latin typeface="Arial"/>
              </a:rPr>
              <a:t>PostgreSQL 16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80" b="1">
                <a:solidFill>
                  <a:srgbClr val="008EF0"/>
                </a:solidFill>
                <a:latin typeface="Arial"/>
              </a:rPr>
              <a:t>▸  </a:t>
            </a:r>
            <a:r>
              <a:rPr sz="1080">
                <a:solidFill>
                  <a:srgbClr val="666666"/>
                </a:solidFill>
                <a:latin typeface="Arial"/>
              </a:rPr>
              <a:t>JSONB for findings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80" b="1">
                <a:solidFill>
                  <a:srgbClr val="008EF0"/>
                </a:solidFill>
                <a:latin typeface="Arial"/>
              </a:rPr>
              <a:t>▸  </a:t>
            </a:r>
            <a:r>
              <a:rPr sz="1080">
                <a:solidFill>
                  <a:srgbClr val="666666"/>
                </a:solidFill>
                <a:latin typeface="Arial"/>
              </a:rPr>
              <a:t>Cursor pagination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80" b="1">
                <a:solidFill>
                  <a:srgbClr val="008EF0"/>
                </a:solidFill>
                <a:latin typeface="Arial"/>
              </a:rPr>
              <a:t>▸  </a:t>
            </a:r>
            <a:r>
              <a:rPr sz="1080">
                <a:solidFill>
                  <a:srgbClr val="666666"/>
                </a:solidFill>
                <a:latin typeface="Arial"/>
              </a:rPr>
              <a:t>Full-text search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80" b="1">
                <a:solidFill>
                  <a:srgbClr val="008EF0"/>
                </a:solidFill>
                <a:latin typeface="Arial"/>
              </a:rPr>
              <a:t>▸  </a:t>
            </a:r>
            <a:r>
              <a:rPr sz="1080">
                <a:solidFill>
                  <a:srgbClr val="666666"/>
                </a:solidFill>
                <a:latin typeface="Arial"/>
              </a:rPr>
              <a:t>CycloneDX SBOM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59554" y="4023360"/>
            <a:ext cx="3472586" cy="2057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359554" y="4023360"/>
            <a:ext cx="3472586" cy="475488"/>
          </a:xfrm>
          <a:prstGeom prst="roundRect">
            <a:avLst>
              <a:gd name="adj" fmla="val 8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359554" y="4261104"/>
            <a:ext cx="3472586" cy="23774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9010" y="4023360"/>
            <a:ext cx="3106826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Arial"/>
              </a:rPr>
              <a:t>Observability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97298" y="4645152"/>
            <a:ext cx="3015386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80" b="1">
                <a:solidFill>
                  <a:srgbClr val="16A34A"/>
                </a:solidFill>
                <a:latin typeface="Arial"/>
              </a:rPr>
              <a:t>▸  </a:t>
            </a:r>
            <a:r>
              <a:rPr sz="1080">
                <a:solidFill>
                  <a:srgbClr val="666666"/>
                </a:solidFill>
                <a:latin typeface="Arial"/>
              </a:rPr>
              <a:t>Prometheus metrics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80" b="1">
                <a:solidFill>
                  <a:srgbClr val="16A34A"/>
                </a:solidFill>
                <a:latin typeface="Arial"/>
              </a:rPr>
              <a:t>▸  </a:t>
            </a:r>
            <a:r>
              <a:rPr sz="1080">
                <a:solidFill>
                  <a:srgbClr val="666666"/>
                </a:solidFill>
                <a:latin typeface="Arial"/>
              </a:rPr>
              <a:t>OpenTelemetry / OTLP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80" b="1">
                <a:solidFill>
                  <a:srgbClr val="16A34A"/>
                </a:solidFill>
                <a:latin typeface="Arial"/>
              </a:rPr>
              <a:t>▸  </a:t>
            </a:r>
            <a:r>
              <a:rPr sz="1080">
                <a:solidFill>
                  <a:srgbClr val="666666"/>
                </a:solidFill>
                <a:latin typeface="Arial"/>
              </a:rPr>
              <a:t>Server-Sent Events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80" b="1">
                <a:solidFill>
                  <a:srgbClr val="16A34A"/>
                </a:solidFill>
                <a:latin typeface="Arial"/>
              </a:rPr>
              <a:t>▸  </a:t>
            </a:r>
            <a:r>
              <a:rPr sz="1080">
                <a:solidFill>
                  <a:srgbClr val="666666"/>
                </a:solidFill>
                <a:latin typeface="Arial"/>
              </a:rPr>
              <a:t>Structured audit log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80" b="1">
                <a:solidFill>
                  <a:srgbClr val="16A34A"/>
                </a:solidFill>
                <a:latin typeface="Arial"/>
              </a:rPr>
              <a:t>▸  </a:t>
            </a:r>
            <a:r>
              <a:rPr sz="1080">
                <a:solidFill>
                  <a:srgbClr val="666666"/>
                </a:solidFill>
                <a:latin typeface="Arial"/>
              </a:rPr>
              <a:t>structlog JSON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52180" y="4023360"/>
            <a:ext cx="3472586" cy="2057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152180" y="4023360"/>
            <a:ext cx="3472586" cy="475488"/>
          </a:xfrm>
          <a:prstGeom prst="roundRect">
            <a:avLst>
              <a:gd name="adj" fmla="val 8000"/>
            </a:avLst>
          </a:prstGeom>
          <a:solidFill>
            <a:srgbClr val="E0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152180" y="4261104"/>
            <a:ext cx="3472586" cy="237744"/>
          </a:xfrm>
          <a:prstGeom prst="rect">
            <a:avLst/>
          </a:prstGeom>
          <a:solidFill>
            <a:srgbClr val="E0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71636" y="4023360"/>
            <a:ext cx="3106826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Arial"/>
              </a:rPr>
              <a:t>Security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9924" y="4645152"/>
            <a:ext cx="3015386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80" b="1">
                <a:solidFill>
                  <a:srgbClr val="E03CFF"/>
                </a:solidFill>
                <a:latin typeface="Arial"/>
              </a:rPr>
              <a:t>▸  </a:t>
            </a:r>
            <a:r>
              <a:rPr sz="1080">
                <a:solidFill>
                  <a:srgbClr val="666666"/>
                </a:solidFill>
                <a:latin typeface="Arial"/>
              </a:rPr>
              <a:t>API-key auth (SHA-256)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80" b="1">
                <a:solidFill>
                  <a:srgbClr val="E03CFF"/>
                </a:solidFill>
                <a:latin typeface="Arial"/>
              </a:rPr>
              <a:t>▸  </a:t>
            </a:r>
            <a:r>
              <a:rPr sz="1080">
                <a:solidFill>
                  <a:srgbClr val="666666"/>
                </a:solidFill>
                <a:latin typeface="Arial"/>
              </a:rPr>
              <a:t>RBAC roles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80" b="1">
                <a:solidFill>
                  <a:srgbClr val="E03CFF"/>
                </a:solidFill>
                <a:latin typeface="Arial"/>
              </a:rPr>
              <a:t>▸  </a:t>
            </a:r>
            <a:r>
              <a:rPr sz="1080">
                <a:solidFill>
                  <a:srgbClr val="666666"/>
                </a:solidFill>
                <a:latin typeface="Arial"/>
              </a:rPr>
              <a:t>HMAC webhook verify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80" b="1">
                <a:solidFill>
                  <a:srgbClr val="E03CFF"/>
                </a:solidFill>
                <a:latin typeface="Arial"/>
              </a:rPr>
              <a:t>▸  </a:t>
            </a:r>
            <a:r>
              <a:rPr sz="1080">
                <a:solidFill>
                  <a:srgbClr val="666666"/>
                </a:solidFill>
                <a:latin typeface="Arial"/>
              </a:rPr>
              <a:t>Rate limiting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80" b="1">
                <a:solidFill>
                  <a:srgbClr val="E03CFF"/>
                </a:solidFill>
                <a:latin typeface="Arial"/>
              </a:rPr>
              <a:t>▸  </a:t>
            </a:r>
            <a:r>
              <a:rPr sz="1080">
                <a:solidFill>
                  <a:srgbClr val="666666"/>
                </a:solidFill>
                <a:latin typeface="Arial"/>
              </a:rPr>
              <a:t>Secret redaction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6928" y="6437376"/>
            <a:ext cx="11057839" cy="11430"/>
          </a:xfrm>
          <a:prstGeom prst="rect">
            <a:avLst/>
          </a:prstGeom>
          <a:solidFill>
            <a:srgbClr val="E4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6928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A100FF"/>
                </a:solidFill>
                <a:latin typeface="Arial"/>
              </a:rPr>
              <a:t>ARGUS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C8C8C"/>
                </a:solidFill>
                <a:latin typeface="Arial"/>
              </a:rPr>
              <a:t>Adaptive AI Security Platform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27487" y="649224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Arial"/>
              </a:rPr>
              <a:t>23 / 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evron 2"/>
          <p:cNvSpPr/>
          <p:nvPr/>
        </p:nvSpPr>
        <p:spPr>
          <a:xfrm>
            <a:off x="566928" y="475488"/>
            <a:ext cx="182880" cy="182880"/>
          </a:xfrm>
          <a:prstGeom prst="chevron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A100FF"/>
                </a:solidFill>
                <a:latin typeface="Arial"/>
              </a:rPr>
              <a:t>DELIVERY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1A1A1A"/>
                </a:solidFill>
                <a:latin typeface="Arial"/>
              </a:rPr>
              <a:t>Fifteen phases shipped — 433 tests green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89888"/>
            <a:ext cx="11057839" cy="17780"/>
          </a:xfrm>
          <a:prstGeom prst="rect">
            <a:avLst/>
          </a:prstGeom>
          <a:solidFill>
            <a:srgbClr val="E4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45920"/>
            <a:ext cx="960120" cy="566928"/>
          </a:xfrm>
          <a:prstGeom prst="roundRect">
            <a:avLst>
              <a:gd name="adj" fmla="val 18000"/>
            </a:avLst>
          </a:prstGeom>
          <a:gradFill rotWithShape="1">
            <a:gsLst>
              <a:gs pos="0">
                <a:srgbClr val="6A00C9"/>
              </a:gs>
              <a:gs pos="100000">
                <a:srgbClr val="A100FF"/>
              </a:gs>
            </a:gsLst>
            <a:lin ang="18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645920"/>
            <a:ext cx="9601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1–3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64208" y="1645920"/>
            <a:ext cx="2103120" cy="566928"/>
          </a:xfrm>
          <a:prstGeom prst="roundRect">
            <a:avLst>
              <a:gd name="adj" fmla="val 10000"/>
            </a:avLst>
          </a:prstGeom>
          <a:solidFill>
            <a:srgbClr val="F4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47088" y="1645920"/>
            <a:ext cx="1828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7005C"/>
                </a:solidFill>
                <a:latin typeface="Arial"/>
              </a:rPr>
              <a:t>Foundation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04488" y="1645920"/>
            <a:ext cx="6988759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33088" y="1645920"/>
            <a:ext cx="612007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80" b="0" i="0">
                <a:solidFill>
                  <a:srgbClr val="666666"/>
                </a:solidFill>
                <a:latin typeface="Arial"/>
              </a:rPr>
              <a:t>SAST + secrets, triage, explainer, fixes, cost ledger, live trace, VS Code extension</a:t>
            </a:r>
          </a:p>
        </p:txBody>
      </p:sp>
      <p:sp>
        <p:nvSpPr>
          <p:cNvPr id="13" name="Oval 12"/>
          <p:cNvSpPr/>
          <p:nvPr/>
        </p:nvSpPr>
        <p:spPr>
          <a:xfrm>
            <a:off x="11167567" y="1764792"/>
            <a:ext cx="329184" cy="329184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67567" y="1764792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2318004"/>
            <a:ext cx="960120" cy="566928"/>
          </a:xfrm>
          <a:prstGeom prst="roundRect">
            <a:avLst>
              <a:gd name="adj" fmla="val 18000"/>
            </a:avLst>
          </a:prstGeom>
          <a:gradFill rotWithShape="1">
            <a:gsLst>
              <a:gs pos="0">
                <a:srgbClr val="6A00C9"/>
              </a:gs>
              <a:gs pos="100000">
                <a:srgbClr val="A100FF"/>
              </a:gs>
            </a:gsLst>
            <a:lin ang="18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2318004"/>
            <a:ext cx="9601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4–5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664208" y="2318004"/>
            <a:ext cx="2103120" cy="566928"/>
          </a:xfrm>
          <a:prstGeom prst="roundRect">
            <a:avLst>
              <a:gd name="adj" fmla="val 10000"/>
            </a:avLst>
          </a:prstGeom>
          <a:solidFill>
            <a:srgbClr val="F4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47088" y="2318004"/>
            <a:ext cx="1828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7005C"/>
                </a:solidFill>
                <a:latin typeface="Arial"/>
              </a:rPr>
              <a:t>Coverage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904488" y="2318004"/>
            <a:ext cx="6988759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33088" y="2318004"/>
            <a:ext cx="612007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80" b="0" i="0">
                <a:solidFill>
                  <a:srgbClr val="666666"/>
                </a:solidFill>
                <a:latin typeface="Arial"/>
              </a:rPr>
              <a:t>SCA (Grype), IaC (Checkov), batch API, skills system, pattern &amp; skill-creator agents</a:t>
            </a:r>
          </a:p>
        </p:txBody>
      </p:sp>
      <p:sp>
        <p:nvSpPr>
          <p:cNvPr id="21" name="Oval 20"/>
          <p:cNvSpPr/>
          <p:nvPr/>
        </p:nvSpPr>
        <p:spPr>
          <a:xfrm>
            <a:off x="11167567" y="2436876"/>
            <a:ext cx="329184" cy="329184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167567" y="2436876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2990088"/>
            <a:ext cx="960120" cy="566928"/>
          </a:xfrm>
          <a:prstGeom prst="roundRect">
            <a:avLst>
              <a:gd name="adj" fmla="val 18000"/>
            </a:avLst>
          </a:prstGeom>
          <a:gradFill rotWithShape="1">
            <a:gsLst>
              <a:gs pos="0">
                <a:srgbClr val="6A00C9"/>
              </a:gs>
              <a:gs pos="100000">
                <a:srgbClr val="A100FF"/>
              </a:gs>
            </a:gsLst>
            <a:lin ang="18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2990088"/>
            <a:ext cx="9601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6–7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664208" y="2990088"/>
            <a:ext cx="2103120" cy="566928"/>
          </a:xfrm>
          <a:prstGeom prst="roundRect">
            <a:avLst>
              <a:gd name="adj" fmla="val 10000"/>
            </a:avLst>
          </a:prstGeom>
          <a:solidFill>
            <a:srgbClr val="F4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847088" y="2990088"/>
            <a:ext cx="1828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7005C"/>
                </a:solidFill>
                <a:latin typeface="Arial"/>
              </a:rPr>
              <a:t>DAST &amp; audit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904488" y="2990088"/>
            <a:ext cx="6988759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33088" y="2990088"/>
            <a:ext cx="612007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80" b="0" i="0">
                <a:solidFill>
                  <a:srgbClr val="666666"/>
                </a:solidFill>
                <a:latin typeface="Arial"/>
              </a:rPr>
              <a:t>Nuclei + ZAP with authorization gate, audit log, config API, evaluation harness</a:t>
            </a:r>
          </a:p>
        </p:txBody>
      </p:sp>
      <p:sp>
        <p:nvSpPr>
          <p:cNvPr id="29" name="Oval 28"/>
          <p:cNvSpPr/>
          <p:nvPr/>
        </p:nvSpPr>
        <p:spPr>
          <a:xfrm>
            <a:off x="11167567" y="3108960"/>
            <a:ext cx="329184" cy="329184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167567" y="3108960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3662172"/>
            <a:ext cx="960120" cy="566928"/>
          </a:xfrm>
          <a:prstGeom prst="roundRect">
            <a:avLst>
              <a:gd name="adj" fmla="val 18000"/>
            </a:avLst>
          </a:prstGeom>
          <a:gradFill rotWithShape="1">
            <a:gsLst>
              <a:gs pos="0">
                <a:srgbClr val="6A00C9"/>
              </a:gs>
              <a:gs pos="100000">
                <a:srgbClr val="A100FF"/>
              </a:gs>
            </a:gsLst>
            <a:lin ang="18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3662172"/>
            <a:ext cx="9601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8–9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664208" y="3662172"/>
            <a:ext cx="2103120" cy="566928"/>
          </a:xfrm>
          <a:prstGeom prst="roundRect">
            <a:avLst>
              <a:gd name="adj" fmla="val 10000"/>
            </a:avLst>
          </a:prstGeom>
          <a:solidFill>
            <a:srgbClr val="F4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847088" y="3662172"/>
            <a:ext cx="1828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7005C"/>
                </a:solidFill>
                <a:latin typeface="Arial"/>
              </a:rPr>
              <a:t>Integrate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904488" y="3662172"/>
            <a:ext cx="6988759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33088" y="3662172"/>
            <a:ext cx="612007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80" b="0" i="0">
                <a:solidFill>
                  <a:srgbClr val="666666"/>
                </a:solidFill>
                <a:latin typeface="Arial"/>
              </a:rPr>
              <a:t>CycloneDX SBOM, scan diff, GitHub/GitLab webhooks, API-key auth, Prometheus metrics</a:t>
            </a:r>
          </a:p>
        </p:txBody>
      </p:sp>
      <p:sp>
        <p:nvSpPr>
          <p:cNvPr id="37" name="Oval 36"/>
          <p:cNvSpPr/>
          <p:nvPr/>
        </p:nvSpPr>
        <p:spPr>
          <a:xfrm>
            <a:off x="11167567" y="3781044"/>
            <a:ext cx="329184" cy="329184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167567" y="3781044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66928" y="4334256"/>
            <a:ext cx="960120" cy="566928"/>
          </a:xfrm>
          <a:prstGeom prst="roundRect">
            <a:avLst>
              <a:gd name="adj" fmla="val 18000"/>
            </a:avLst>
          </a:prstGeom>
          <a:gradFill rotWithShape="1">
            <a:gsLst>
              <a:gs pos="0">
                <a:srgbClr val="6A00C9"/>
              </a:gs>
              <a:gs pos="100000">
                <a:srgbClr val="A100FF"/>
              </a:gs>
            </a:gsLst>
            <a:lin ang="18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6928" y="4334256"/>
            <a:ext cx="9601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10–11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664208" y="4334256"/>
            <a:ext cx="2103120" cy="566928"/>
          </a:xfrm>
          <a:prstGeom prst="roundRect">
            <a:avLst>
              <a:gd name="adj" fmla="val 10000"/>
            </a:avLst>
          </a:prstGeom>
          <a:solidFill>
            <a:srgbClr val="F4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847088" y="4334256"/>
            <a:ext cx="1828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7005C"/>
                </a:solidFill>
                <a:latin typeface="Arial"/>
              </a:rPr>
              <a:t>Govern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904488" y="4334256"/>
            <a:ext cx="6988759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33088" y="4334256"/>
            <a:ext cx="612007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80" b="0" i="0">
                <a:solidFill>
                  <a:srgbClr val="666666"/>
                </a:solidFill>
                <a:latin typeface="Arial"/>
              </a:rPr>
              <a:t>Suppressions + .argusignore, cron scheduler, compliance reports, policy engine, CI gate</a:t>
            </a:r>
          </a:p>
        </p:txBody>
      </p:sp>
      <p:sp>
        <p:nvSpPr>
          <p:cNvPr id="45" name="Oval 44"/>
          <p:cNvSpPr/>
          <p:nvPr/>
        </p:nvSpPr>
        <p:spPr>
          <a:xfrm>
            <a:off x="11167567" y="4453128"/>
            <a:ext cx="329184" cy="329184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167567" y="4453128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66928" y="5006340"/>
            <a:ext cx="960120" cy="566928"/>
          </a:xfrm>
          <a:prstGeom prst="roundRect">
            <a:avLst>
              <a:gd name="adj" fmla="val 18000"/>
            </a:avLst>
          </a:prstGeom>
          <a:gradFill rotWithShape="1">
            <a:gsLst>
              <a:gs pos="0">
                <a:srgbClr val="6A00C9"/>
              </a:gs>
              <a:gs pos="100000">
                <a:srgbClr val="A100FF"/>
              </a:gs>
            </a:gsLst>
            <a:lin ang="18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66928" y="5006340"/>
            <a:ext cx="9601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12–13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664208" y="5006340"/>
            <a:ext cx="2103120" cy="566928"/>
          </a:xfrm>
          <a:prstGeom prst="roundRect">
            <a:avLst>
              <a:gd name="adj" fmla="val 10000"/>
            </a:avLst>
          </a:prstGeom>
          <a:solidFill>
            <a:srgbClr val="F4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847088" y="5006340"/>
            <a:ext cx="1828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7005C"/>
                </a:solidFill>
                <a:latin typeface="Arial"/>
              </a:rPr>
              <a:t>Enterprise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904488" y="5006340"/>
            <a:ext cx="6988759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33088" y="5006340"/>
            <a:ext cx="612007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80" b="0" i="0">
                <a:solidFill>
                  <a:srgbClr val="666666"/>
                </a:solidFill>
                <a:latin typeface="Arial"/>
              </a:rPr>
              <a:t>Orgs / workspaces, RBAC roles, Jira + PagerDuty + Slack integrations</a:t>
            </a:r>
          </a:p>
        </p:txBody>
      </p:sp>
      <p:sp>
        <p:nvSpPr>
          <p:cNvPr id="53" name="Oval 52"/>
          <p:cNvSpPr/>
          <p:nvPr/>
        </p:nvSpPr>
        <p:spPr>
          <a:xfrm>
            <a:off x="11167567" y="5125212"/>
            <a:ext cx="329184" cy="329184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167567" y="5125212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66928" y="5678424"/>
            <a:ext cx="960120" cy="566928"/>
          </a:xfrm>
          <a:prstGeom prst="roundRect">
            <a:avLst>
              <a:gd name="adj" fmla="val 18000"/>
            </a:avLst>
          </a:prstGeom>
          <a:gradFill rotWithShape="1">
            <a:gsLst>
              <a:gs pos="0">
                <a:srgbClr val="6A00C9"/>
              </a:gs>
              <a:gs pos="100000">
                <a:srgbClr val="A100FF"/>
              </a:gs>
            </a:gsLst>
            <a:lin ang="18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66928" y="5678424"/>
            <a:ext cx="9601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14–15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664208" y="5678424"/>
            <a:ext cx="2103120" cy="566928"/>
          </a:xfrm>
          <a:prstGeom prst="roundRect">
            <a:avLst>
              <a:gd name="adj" fmla="val 10000"/>
            </a:avLst>
          </a:prstGeom>
          <a:solidFill>
            <a:srgbClr val="F4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847088" y="5678424"/>
            <a:ext cx="1828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7005C"/>
                </a:solidFill>
                <a:latin typeface="Arial"/>
              </a:rPr>
              <a:t>Production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904488" y="5678424"/>
            <a:ext cx="6988759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33088" y="5678424"/>
            <a:ext cx="612007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80" b="0" i="0">
                <a:solidFill>
                  <a:srgbClr val="666666"/>
                </a:solidFill>
                <a:latin typeface="Arial"/>
              </a:rPr>
              <a:t>Trend analytics, MTTR, CSV export, cursor pagination, full-text search, OpenTelemetry</a:t>
            </a:r>
          </a:p>
        </p:txBody>
      </p:sp>
      <p:sp>
        <p:nvSpPr>
          <p:cNvPr id="61" name="Oval 60"/>
          <p:cNvSpPr/>
          <p:nvPr/>
        </p:nvSpPr>
        <p:spPr>
          <a:xfrm>
            <a:off x="11167567" y="5797296"/>
            <a:ext cx="329184" cy="329184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1167567" y="5797296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66928" y="6437376"/>
            <a:ext cx="11057839" cy="11430"/>
          </a:xfrm>
          <a:prstGeom prst="rect">
            <a:avLst/>
          </a:prstGeom>
          <a:solidFill>
            <a:srgbClr val="E4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66928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A100FF"/>
                </a:solidFill>
                <a:latin typeface="Arial"/>
              </a:rPr>
              <a:t>ARGUS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33856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C8C8C"/>
                </a:solidFill>
                <a:latin typeface="Arial"/>
              </a:rPr>
              <a:t>Adaptive AI Security Platform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527487" y="649224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Arial"/>
              </a:rPr>
              <a:t>24 / 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evron 2"/>
          <p:cNvSpPr/>
          <p:nvPr/>
        </p:nvSpPr>
        <p:spPr>
          <a:xfrm>
            <a:off x="566928" y="475488"/>
            <a:ext cx="182880" cy="182880"/>
          </a:xfrm>
          <a:prstGeom prst="chevron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A100FF"/>
                </a:solidFill>
                <a:latin typeface="Arial"/>
              </a:rPr>
              <a:t>VALUE &amp; ROI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1A1A1A"/>
                </a:solidFill>
                <a:latin typeface="Arial"/>
              </a:rPr>
              <a:t>Better signal, lower cost, full traceability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89888"/>
            <a:ext cx="11057839" cy="17780"/>
          </a:xfrm>
          <a:prstGeom prst="rect">
            <a:avLst/>
          </a:prstGeom>
          <a:solidFill>
            <a:srgbClr val="E4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83080"/>
            <a:ext cx="2524429" cy="2103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783080"/>
            <a:ext cx="2524429" cy="100584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057400"/>
            <a:ext cx="234154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A100FF"/>
                </a:solidFill>
                <a:latin typeface="Arial"/>
              </a:rPr>
              <a:t>≈70%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" y="2834640"/>
            <a:ext cx="230497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A1A1A"/>
                </a:solidFill>
                <a:latin typeface="Arial"/>
              </a:rPr>
              <a:t>less manual triage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" y="3200400"/>
            <a:ext cx="230497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80" b="0" i="0">
                <a:solidFill>
                  <a:srgbClr val="666666"/>
                </a:solidFill>
                <a:latin typeface="Arial"/>
              </a:rPr>
              <a:t>dedup + AI filtering remove duplicate &amp; false-positive noise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11397" y="1783080"/>
            <a:ext cx="2524429" cy="2103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11397" y="1783080"/>
            <a:ext cx="2524429" cy="100584"/>
          </a:xfrm>
          <a:prstGeom prst="rect">
            <a:avLst/>
          </a:prstGeom>
          <a:solidFill>
            <a:srgbClr val="5A2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02837" y="2057400"/>
            <a:ext cx="234154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5A2BD9"/>
                </a:solidFill>
                <a:latin typeface="Arial"/>
              </a:rPr>
              <a:t>~$0.50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1125" y="2834640"/>
            <a:ext cx="230497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A1A1A"/>
                </a:solidFill>
                <a:latin typeface="Arial"/>
              </a:rPr>
              <a:t>AI cost per full scan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1125" y="3200400"/>
            <a:ext cx="230497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80" b="0" i="0">
                <a:solidFill>
                  <a:srgbClr val="666666"/>
                </a:solidFill>
                <a:latin typeface="Arial"/>
              </a:rPr>
              <a:t>tiered models + hard budget gate keep spend predictable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55867" y="1783080"/>
            <a:ext cx="2524429" cy="2103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55867" y="1783080"/>
            <a:ext cx="2524429" cy="100584"/>
          </a:xfrm>
          <a:prstGeom prst="rect">
            <a:avLst/>
          </a:prstGeom>
          <a:solidFill>
            <a:srgbClr val="00B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47307" y="2057400"/>
            <a:ext cx="234154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0B5A5"/>
                </a:solidFill>
                <a:latin typeface="Arial"/>
              </a:rPr>
              <a:t>&lt; 5 min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65595" y="2834640"/>
            <a:ext cx="230497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A1A1A"/>
                </a:solidFill>
                <a:latin typeface="Arial"/>
              </a:rPr>
              <a:t>to a diff-ready fix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65595" y="3200400"/>
            <a:ext cx="230497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80" b="0" i="0">
                <a:solidFill>
                  <a:srgbClr val="666666"/>
                </a:solidFill>
                <a:latin typeface="Arial"/>
              </a:rPr>
              <a:t>for a confirmed high-severity finding, with a test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00337" y="1783080"/>
            <a:ext cx="2524429" cy="2103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00337" y="1783080"/>
            <a:ext cx="2524429" cy="100584"/>
          </a:xfrm>
          <a:prstGeom prst="rect">
            <a:avLst/>
          </a:prstGeom>
          <a:solidFill>
            <a:srgbClr val="008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91777" y="2057400"/>
            <a:ext cx="234154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08EF0"/>
                </a:solidFill>
                <a:latin typeface="Arial"/>
              </a:rPr>
              <a:t>100%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10065" y="2834640"/>
            <a:ext cx="230497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A1A1A"/>
                </a:solidFill>
                <a:latin typeface="Arial"/>
              </a:rPr>
              <a:t>of actions audited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10065" y="3200400"/>
            <a:ext cx="230497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80" b="0" i="0">
                <a:solidFill>
                  <a:srgbClr val="666666"/>
                </a:solidFill>
                <a:latin typeface="Arial"/>
              </a:rPr>
              <a:t>every suppression, policy, and fix is traceable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4251960"/>
            <a:ext cx="11057839" cy="1417320"/>
          </a:xfrm>
          <a:prstGeom prst="roundRect">
            <a:avLst>
              <a:gd name="adj" fmla="val 7000"/>
            </a:avLst>
          </a:prstGeom>
          <a:gradFill rotWithShape="1">
            <a:gsLst>
              <a:gs pos="0">
                <a:srgbClr val="6A00C9"/>
              </a:gs>
              <a:gs pos="55000">
                <a:srgbClr val="A100FF"/>
              </a:gs>
              <a:gs pos="100000">
                <a:srgbClr val="6A00C9"/>
              </a:gs>
            </a:gsLst>
            <a:lin ang="3000000" scaled="1"/>
          </a:gradFill>
          <a:ln>
            <a:noFill/>
          </a:ln>
          <a:effectLst/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24128" y="4251960"/>
            <a:ext cx="10143439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One platform replaces a fragmented toolchain — unifying detection, AI remediation, cost control, and governance so security scales with the business instead of fighting it.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6437376"/>
            <a:ext cx="11057839" cy="11430"/>
          </a:xfrm>
          <a:prstGeom prst="rect">
            <a:avLst/>
          </a:prstGeom>
          <a:solidFill>
            <a:srgbClr val="E4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A100FF"/>
                </a:solidFill>
                <a:latin typeface="Arial"/>
              </a:rPr>
              <a:t>ARGUS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33856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C8C8C"/>
                </a:solidFill>
                <a:latin typeface="Arial"/>
              </a:rPr>
              <a:t>Adaptive AI Security Platform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27487" y="649224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Arial"/>
              </a:rPr>
              <a:t>25 / 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37005C"/>
              </a:gs>
              <a:gs pos="55000">
                <a:srgbClr val="A100FF"/>
              </a:gs>
              <a:gs pos="100000">
                <a:srgbClr val="37005C"/>
              </a:gs>
            </a:gsLst>
            <a:lin ang="2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evron 2"/>
          <p:cNvSpPr/>
          <p:nvPr/>
        </p:nvSpPr>
        <p:spPr>
          <a:xfrm>
            <a:off x="8869680" y="0"/>
            <a:ext cx="2377440" cy="6858000"/>
          </a:xfrm>
          <a:prstGeom prst="chevron">
            <a:avLst/>
          </a:prstGeom>
          <a:solidFill>
            <a:srgbClr val="FFFFFF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evron 3"/>
          <p:cNvSpPr/>
          <p:nvPr/>
        </p:nvSpPr>
        <p:spPr>
          <a:xfrm>
            <a:off x="9875520" y="0"/>
            <a:ext cx="2377440" cy="6858000"/>
          </a:xfrm>
          <a:prstGeom prst="chevron">
            <a:avLst/>
          </a:prstGeom>
          <a:solidFill>
            <a:srgbClr val="FFFFFF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evron 4"/>
          <p:cNvSpPr/>
          <p:nvPr/>
        </p:nvSpPr>
        <p:spPr>
          <a:xfrm>
            <a:off x="10881360" y="0"/>
            <a:ext cx="2377440" cy="6858000"/>
          </a:xfrm>
          <a:prstGeom prst="chevron">
            <a:avLst/>
          </a:prstGeom>
          <a:solidFill>
            <a:srgbClr val="FFFFFF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566928" y="1874519"/>
            <a:ext cx="457200" cy="457200"/>
          </a:xfrm>
          <a:prstGeom prst="chevron">
            <a:avLst/>
          </a:prstGeom>
          <a:solidFill>
            <a:srgbClr val="D99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377440"/>
            <a:ext cx="91440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800" b="1" i="0">
                <a:solidFill>
                  <a:srgbClr val="FFFFFF"/>
                </a:solidFill>
                <a:latin typeface="Arial"/>
              </a:rPr>
              <a:t>ARGUS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8" y="3657600"/>
            <a:ext cx="2377440" cy="50800"/>
          </a:xfrm>
          <a:prstGeom prst="rect">
            <a:avLst/>
          </a:prstGeom>
          <a:solidFill>
            <a:srgbClr val="CE8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38404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Find faster. Understand deeper. Fix smarter. Spend less.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6177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E6CFFF"/>
                </a:solidFill>
                <a:latin typeface="Arial"/>
              </a:rPr>
              <a:t>Provider-agnostic  ·  cost-aware  ·  enterprise-ready security, powered by AI.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8521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AD4FF"/>
                </a:solidFill>
                <a:latin typeface="Arial"/>
              </a:rPr>
              <a:t>github.com/ahujrajat/Argus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98687" y="585216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D9BFF2"/>
                </a:solidFill>
                <a:latin typeface="Arial"/>
              </a:rPr>
              <a:t>Built by Rajat Ahuja · Accenture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