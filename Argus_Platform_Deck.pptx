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4"/>
  </p:normalViewPr>
  <p:slideViewPr>
    <p:cSldViewPr snapToGrid="0" snapToObjects="1">
      <p:cViewPr varScale="1">
        <p:scale>
          <a:sx n="131" d="100"/>
          <a:sy n="131" d="100"/>
        </p:scale>
        <p:origin x="16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50976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51560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hevron 5"/>
          <p:cNvSpPr/>
          <p:nvPr/>
        </p:nvSpPr>
        <p:spPr>
          <a:xfrm>
            <a:off x="11521440" y="914400"/>
            <a:ext cx="2194560" cy="4937760"/>
          </a:xfrm>
          <a:prstGeom prst="chevron">
            <a:avLst/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Chevron 6"/>
          <p:cNvSpPr/>
          <p:nvPr/>
        </p:nvSpPr>
        <p:spPr>
          <a:xfrm>
            <a:off x="566928" y="1417320"/>
            <a:ext cx="420624" cy="420624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993392"/>
            <a:ext cx="65836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0" b="1" i="0">
                <a:solidFill>
                  <a:srgbClr val="1A1A1A"/>
                </a:solidFill>
                <a:latin typeface="Arial"/>
              </a:rPr>
              <a:t>ARGUS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" y="3200400"/>
            <a:ext cx="2377440" cy="50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3401568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>
                <a:solidFill>
                  <a:srgbClr val="6A00C9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6400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Find vulnerabilities faster. Understand them in context. Fix them with AI — under a hard cost budget you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5440680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SAST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81328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81328" y="5440680"/>
            <a:ext cx="69951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90572" y="544068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90572" y="5440680"/>
            <a:ext cx="11201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Secrets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5440680"/>
            <a:ext cx="699516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20440" y="5440680"/>
            <a:ext cx="69951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IaC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9684" y="544068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9684" y="5440680"/>
            <a:ext cx="80467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DAST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4084" y="5440680"/>
            <a:ext cx="1856232" cy="38404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44084" y="5440680"/>
            <a:ext cx="1856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6A00C9"/>
                </a:solidFill>
                <a:latin typeface="Arial"/>
              </a:rPr>
              <a:t>AI Remediation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897880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 i="0">
                <a:solidFill>
                  <a:srgbClr val="ECD6FF"/>
                </a:solidFill>
                <a:latin typeface="Arial"/>
              </a:rPr>
              <a:t>Provider-agnostic  ·  Cost-aware  ·  Enterprise-ready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02920"/>
            <a:ext cx="45107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Accenture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that keeps up — without runaway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11057839" cy="1325880"/>
          </a:xfrm>
          <a:prstGeom prst="roundRect">
            <a:avLst>
              <a:gd name="adj" fmla="val 7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10417759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A1A1A"/>
                </a:solidFill>
                <a:latin typeface="Arial"/>
              </a:rPr>
              <a:t>Argus unifies six industry-standard security scanners and a team of AI agents behind one API. It finds real vulnerabilities, explains them in plain language, writes the fix — and meters every AI dollar so security at scale never becomes a budget surprise.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345643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17880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Less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636008"/>
            <a:ext cx="3070250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Deterministic scanners + AI triage cut false positives and duplicate alerts so teams fix what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60722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008EF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60722" y="345643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0722" y="417880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Predictable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0722" y="4636008"/>
            <a:ext cx="3070250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Every AI call passes a budget gate. Hard per-scan and monthly limits mean no overspend, ever.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180" y="3246120"/>
            <a:ext cx="3472586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353348" y="3465576"/>
            <a:ext cx="566928" cy="566928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53348" y="345643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417880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Arial"/>
              </a:rPr>
              <a:t>Fits any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4636008"/>
            <a:ext cx="3070250" cy="1225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One developer on a laptop or a whole enterprise in CI/CD — same platform, same guardrails.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Security teams are losing the race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Code ships faster than ever. The tooling meant to secure it creates as many problems as it solves.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2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23682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2414016"/>
            <a:ext cx="4111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Alert fatigue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2889504"/>
            <a:ext cx="411159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Scanners emit thousands of findings per repo. Most are duplicates or false positives. Real risks drown in the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103120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562191" y="237744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2191" y="236829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8575" y="2414016"/>
            <a:ext cx="4111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Tool sprawl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8575" y="2889504"/>
            <a:ext cx="411159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SAST, SCA, secrets, IaC, DAST — each a separate tool, format, and dashboard. No single view of risk.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535423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1056" y="4581143"/>
            <a:ext cx="4111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Unpredictable AI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5056631"/>
            <a:ext cx="411159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Bolting an LLM onto scanning works in a demo, then bills explode. No budget, no metering, no controls.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4447" y="4270247"/>
            <a:ext cx="5300319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62191" y="4544567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2191" y="4535423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8575" y="4581143"/>
            <a:ext cx="41115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Arial"/>
              </a:rPr>
              <a:t>No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8575" y="5056631"/>
            <a:ext cx="411159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Who suppressed that finding? Which policy passed? When? Auditors ask — and nobody can answer.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WHY TODAY'S SOLUTIONS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The gap between scanning and securing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64208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664208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1664208"/>
            <a:ext cx="3566160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Raw scanners (Semgrep, Grype…)</a:t>
            </a:r>
          </a:p>
        </p:txBody>
      </p:sp>
      <p:sp>
        <p:nvSpPr>
          <p:cNvPr id="10" name="Oval 9"/>
          <p:cNvSpPr/>
          <p:nvPr/>
        </p:nvSpPr>
        <p:spPr>
          <a:xfrm>
            <a:off x="4544567" y="2148840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64608" y="1664208"/>
            <a:ext cx="6577279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Fast and free, but output a flat list. No prioritization, no context, no fix. The triage burden lands on humans.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34640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2834640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2834640"/>
            <a:ext cx="3566160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Legacy SAST suites</a:t>
            </a:r>
          </a:p>
        </p:txBody>
      </p:sp>
      <p:sp>
        <p:nvSpPr>
          <p:cNvPr id="15" name="Oval 14"/>
          <p:cNvSpPr/>
          <p:nvPr/>
        </p:nvSpPr>
        <p:spPr>
          <a:xfrm>
            <a:off x="4544567" y="3319272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64608" y="2834640"/>
            <a:ext cx="6577279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Heavyweight, slow, single-language focus, and costly per seat. Findings still need manual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05072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4005072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005072"/>
            <a:ext cx="3566160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Bolt-on "AI security" tools</a:t>
            </a:r>
          </a:p>
        </p:txBody>
      </p:sp>
      <p:sp>
        <p:nvSpPr>
          <p:cNvPr id="20" name="Oval 19"/>
          <p:cNvSpPr/>
          <p:nvPr/>
        </p:nvSpPr>
        <p:spPr>
          <a:xfrm>
            <a:off x="4544567" y="4489704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64608" y="4005072"/>
            <a:ext cx="6577279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Impressive demos, opaque costs. No budget ceiling, no audit trail, and your source often leaves your boundary.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75504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5175504"/>
            <a:ext cx="82296" cy="106070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" y="5175504"/>
            <a:ext cx="3566160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In-house glue scripts</a:t>
            </a:r>
          </a:p>
        </p:txBody>
      </p:sp>
      <p:sp>
        <p:nvSpPr>
          <p:cNvPr id="25" name="Oval 24"/>
          <p:cNvSpPr/>
          <p:nvPr/>
        </p:nvSpPr>
        <p:spPr>
          <a:xfrm>
            <a:off x="4544567" y="5660136"/>
            <a:ext cx="91440" cy="914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64608" y="5175504"/>
            <a:ext cx="6577279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Stitch tools together until they break. No governance, no RBAC, no roadmap — and a maintenance tax forever.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THE ARGUS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a list of problems to a list of solved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53003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Arial"/>
              </a:rPr>
              <a:t>TRADITIONAL 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423160"/>
            <a:ext cx="4568799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Thousands of raw, unranked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Separate tool per scan type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Manual triage and interpretation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Fixes are the developer's problem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AI cost is unbounded (if any AI at all)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Suppressions live in someone's head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>
                <a:solidFill>
                  <a:srgbClr val="8C8C8C"/>
                </a:solidFill>
                <a:latin typeface="Arial"/>
              </a:rPr>
              <a:t>▸  </a:t>
            </a:r>
            <a:r>
              <a:rPr sz="1250">
                <a:solidFill>
                  <a:srgbClr val="666666"/>
                </a:solidFill>
                <a:latin typeface="Arial"/>
              </a:rPr>
              <a:t>Bring-your-own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91640"/>
            <a:ext cx="5300319" cy="42976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24447" y="1874519"/>
            <a:ext cx="53003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WITH 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5927" y="2423160"/>
            <a:ext cx="4568799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Prioritized, de-duplicated, exploit-ranked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Six scanners unified behind one API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triages, scores, and filters for you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AI writes a diff-ready fix + test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Hard budget gate on every AI call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Suppressions are rules, versioned + audited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E9C9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RBAC, policies, and audit log built 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WHAT ARGUS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Four steps, fully automated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2112264"/>
            <a:ext cx="215866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505456"/>
            <a:ext cx="67665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383280"/>
            <a:ext cx="208551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840479"/>
            <a:ext cx="2085517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Six scanners sweep code, dependencies, secrets, infrastructure, and running apps — with zero AI cost.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645" y="3246120"/>
            <a:ext cx="3017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139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2565" y="2112264"/>
            <a:ext cx="215866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085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30853" y="2505456"/>
            <a:ext cx="67665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853" y="3383280"/>
            <a:ext cx="208551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Understand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853" y="3840479"/>
            <a:ext cx="2085517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AI triages every finding: is it real, how exploitable, what's the blast radius? Noise is filtered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4115" y="3246120"/>
            <a:ext cx="3017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57035" y="2112264"/>
            <a:ext cx="215866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2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8EF0"/>
              </a:gs>
              <a:gs pos="100000">
                <a:srgbClr val="00B5A5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5323" y="2505456"/>
            <a:ext cx="67665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5323" y="3383280"/>
            <a:ext cx="208551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5323" y="3840479"/>
            <a:ext cx="2085517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For confirmed issues, AI drafts a precise code patch and a test — ready to review and merge.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8585" y="3246120"/>
            <a:ext cx="3017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0337" y="1965960"/>
            <a:ext cx="2524429" cy="3383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01505" y="2112264"/>
            <a:ext cx="215866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4E0EC"/>
                </a:solidFill>
                <a:latin typeface="Arial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9793" y="2514600"/>
            <a:ext cx="676656" cy="676656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19793" y="2505456"/>
            <a:ext cx="676656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9793" y="3383280"/>
            <a:ext cx="208551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Arial"/>
              </a:rPr>
              <a:t>Govern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9793" y="3840479"/>
            <a:ext cx="2085517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Cost, policies, suppressions, and a full audit trail keep every scan compliant and affordable.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Architecture, the scan pipeline, and why the signal is clean.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Layered, provider-agnostic, source stays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2763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755648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SURFACES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30552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Dashboard (React)  ·  VS Code extension  ·  CI step  ·  CLI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0248" y="2523744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2491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6A00C9"/>
              </a:gs>
              <a:gs pos="100000">
                <a:srgbClr val="A100FF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852928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API LAYER  ·  FastAPI / Python 3.12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27832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REST + Server-Sent Events  ·  OpenAPI 3.1  ·  API-key auth  ·  RBAC  ·  rate limiting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248" y="3621024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5A2BD9"/>
              </a:gs>
              <a:gs pos="100000">
                <a:srgbClr val="8E2BD9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3950208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ORCHESTRATOR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25112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Pipeline engine  ·  GovernanceGate  ·  AI agents  ·  Skills  ·  cost ledger  ·  audit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4718304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7772400" cy="950976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72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  —  zero AI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22392"/>
            <a:ext cx="7223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Semgrep  ·  TruffleHog  ·  Grype  ·  Checkov  ·  Nuclei  ·  OWASP ZAP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5088" y="1627632"/>
            <a:ext cx="2919679" cy="19385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05088" y="1627632"/>
            <a:ext cx="82296" cy="19385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24544" y="18288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24544" y="181965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468880"/>
            <a:ext cx="25081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PostgreSQL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2834640"/>
            <a:ext cx="25081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Scans, findings, fixes, policies, audit, cost ledger — SQLAlchemy 2 async + JSONB.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05088" y="3730752"/>
            <a:ext cx="2919679" cy="21579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705088" y="3730752"/>
            <a:ext cx="82296" cy="21579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924544" y="393192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24544" y="3922776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4544" y="4572000"/>
            <a:ext cx="25081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finRouter Gateway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4544" y="4937760"/>
            <a:ext cx="25081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66666"/>
                </a:solidFill>
                <a:latin typeface="Arial"/>
              </a:rPr>
              <a:t>Provider-agnostic LLM routing, AES-256-GCM key vault, zero-retention headers, org budgets.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A SCAN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 six-stage pipeline — deterministic work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1675333" cy="1097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30274" y="2258568"/>
            <a:ext cx="548640" cy="54864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30274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Index the target;
detect languages
&amp; frameworks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5685" y="283464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3429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43429" y="1965960"/>
            <a:ext cx="1675333" cy="109728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006775" y="2258568"/>
            <a:ext cx="548640" cy="548640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06775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8293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8293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Run the selected
scanners in
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2186" y="283464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9930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19930" y="1965960"/>
            <a:ext cx="1675333" cy="109728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83276" y="2258568"/>
            <a:ext cx="548640" cy="548640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83276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4794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Triage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4794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Dedup, fingerprint,
score, drop false
positives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8687" y="283464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96431" y="1965960"/>
            <a:ext cx="1675333" cy="1097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759778" y="2258568"/>
            <a:ext cx="548640" cy="548640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59778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1295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Explain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1295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Plain-language
risk + business
context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5188" y="283464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72932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072932" y="1965960"/>
            <a:ext cx="1675333" cy="10972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636279" y="2258568"/>
            <a:ext cx="548640" cy="54864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36279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7796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7796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Diff-ready patch
+ test, human-
gated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1689" y="283464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A100FF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49433" y="1965960"/>
            <a:ext cx="1675333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949433" y="1965960"/>
            <a:ext cx="1675333" cy="109728"/>
          </a:xfrm>
          <a:prstGeom prst="rect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0512780" y="2258568"/>
            <a:ext cx="548640" cy="548640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12780" y="2258568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4297" y="2916936"/>
            <a:ext cx="15656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1A1A1A"/>
                </a:solidFill>
                <a:latin typeface="Arial"/>
              </a:rPr>
              <a:t>Report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97" y="3300984"/>
            <a:ext cx="156560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SBOM, compliance,
policy check,
notify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66928" y="4892040"/>
            <a:ext cx="109728" cy="9601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22960" y="5111496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2960" y="5102352"/>
            <a:ext cx="5120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$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7048" y="5038344"/>
            <a:ext cx="98691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7005C"/>
                </a:solidFill>
                <a:latin typeface="Arial"/>
              </a:rPr>
              <a:t>GovernanceGate wraps every AI call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7048" y="5385816"/>
            <a:ext cx="986911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666666"/>
                </a:solidFill>
                <a:latin typeface="Arial"/>
              </a:rPr>
              <a:t>Before any token is spent, the gate checks the budget, picks the cheapest viable model, records the cost, and streams progress live. Over budget → remaining AI steps are skipped, scan still completes.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SIGNAL QUALITY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Cheap, deterministic work first — AI only where it pays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300319" cy="338328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1691640"/>
            <a:ext cx="4751679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DETERMINISTIC SCANNERS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475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B5A5"/>
                </a:solidFill>
                <a:latin typeface="Arial"/>
              </a:rPr>
              <a:t>Zero AI tokens · runs every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71800"/>
            <a:ext cx="470595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Semgrep — static analysis (SAST), 1000+ rules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TruffleHog — verified secret detection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Grype — dependency CVEs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Checkov — Terraform / Kubernetes / CFN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Nuclei + OWASP ZAP — running-app testing (DAST)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00B5A5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Dedup + fingerprint so one issue is one finding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91640"/>
            <a:ext cx="5300319" cy="4251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24447" y="1691640"/>
            <a:ext cx="5300319" cy="658368"/>
          </a:xfrm>
          <a:prstGeom prst="roundRect">
            <a:avLst>
              <a:gd name="adj" fmla="val 7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24447" y="2011680"/>
            <a:ext cx="5300319" cy="33832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8767" y="1691640"/>
            <a:ext cx="4751679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505456"/>
            <a:ext cx="47516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A100FF"/>
                </a:solidFill>
                <a:latin typeface="Arial"/>
              </a:rPr>
              <a:t>Metered · runs only after dedup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4487" y="2971800"/>
            <a:ext cx="470595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Triage — confirm, score exploitability, cut FPs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Explainer — plain-language risk + business impact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Fix — generate a reviewed code diff and a test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Pattern — connect findings into systemic risks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Skill Creator — author new domain knowledge live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80" b="1">
                <a:solidFill>
                  <a:srgbClr val="A100FF"/>
                </a:solidFill>
                <a:latin typeface="Arial"/>
              </a:rPr>
              <a:t>▸  </a:t>
            </a:r>
            <a:r>
              <a:rPr sz="1180">
                <a:solidFill>
                  <a:srgbClr val="666666"/>
                </a:solidFill>
                <a:latin typeface="Arial"/>
              </a:rPr>
              <a:t>Every call routed + budgeted via GovernanceGate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Choose Your Scan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Mode, pipeline, approach — and a system that adapts with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CHOOSE YOUR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Three independent dials tune every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Arial"/>
              </a:rPr>
              <a:t>Mode, pipeline, and approach combine freely — the same codebase can be scanned many ways for many audiences.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A100FF"/>
              </a:gs>
              <a:gs pos="100000">
                <a:srgbClr val="E03C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295144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79192"/>
            <a:ext cx="301538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When &amp; how much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30153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How the scan is triggered and scoped.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04488"/>
            <a:ext cx="299709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at_rest — full audit of a target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batch — many targets at once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A100FF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real_time — only changed files (PR loop)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9554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59554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59554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5A2BD9"/>
              </a:gs>
              <a:gs pos="100000">
                <a:srgbClr val="A100FF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5586" y="2295144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5586" y="2679192"/>
            <a:ext cx="301538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Which tools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5586" y="3209544"/>
            <a:ext cx="30153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A named recipe of scanners + agents.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5586" y="3904488"/>
            <a:ext cx="299709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full-scan · pr-check · real-time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sca-scan · iac-scan · dast-scan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2BD9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comprehensive — everything, parallel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2180" y="2148840"/>
            <a:ext cx="3472586" cy="3611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152180" y="2148840"/>
            <a:ext cx="3472586" cy="914400"/>
          </a:xfrm>
          <a:prstGeom prst="roundRect">
            <a:avLst>
              <a:gd name="adj" fmla="val 9000"/>
            </a:avLst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52180" y="2606040"/>
            <a:ext cx="3472586" cy="457200"/>
          </a:xfrm>
          <a:prstGeom prst="rect">
            <a:avLst/>
          </a:prstGeom>
          <a:gradFill rotWithShape="1">
            <a:gsLst>
              <a:gs pos="0">
                <a:srgbClr val="00B5A5"/>
              </a:gs>
              <a:gs pos="100000">
                <a:srgbClr val="16A34A"/>
              </a:gs>
            </a:gsLst>
            <a:lin ang="1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8212" y="2295144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APPROACH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8212" y="2679192"/>
            <a:ext cx="301538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0E2FF"/>
                </a:solidFill>
                <a:latin typeface="Arial"/>
              </a:rPr>
              <a:t>Through which lens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8212" y="3209544"/>
            <a:ext cx="301538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The analytical mindset AI applies.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8212" y="3904488"/>
            <a:ext cx="2997098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pen-test · adversary emulation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breach &amp; attack sim · assumed breach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00B5A5"/>
                </a:solidFill>
                <a:latin typeface="Arial"/>
              </a:rPr>
              <a:t>▸  </a:t>
            </a:r>
            <a:r>
              <a:rPr sz="1100">
                <a:solidFill>
                  <a:srgbClr val="666666"/>
                </a:solidFill>
                <a:latin typeface="Arial"/>
              </a:rPr>
              <a:t>blue team · purple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SECURITY 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Same findings, six expert perspectives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11057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Set one parameter and AI triage + explanations re-frame entirely — serving red teams, blue teams, and control owners from a single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084831"/>
            <a:ext cx="3472586" cy="100584"/>
          </a:xfrm>
          <a:prstGeom prst="rect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23408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Penetration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0522" y="235915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60522" y="2359151"/>
            <a:ext cx="868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0">
                <a:solidFill>
                  <a:srgbClr val="6A00C9"/>
                </a:solidFill>
                <a:latin typeface="Arial"/>
              </a:rPr>
              <a:t>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712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Reachability, minimal payload, blast radius, exploit chains.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9554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59554" y="2084831"/>
            <a:ext cx="3472586" cy="10058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7298" y="23408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Adversary Emulation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8712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Maps each finding to MITRE ATT&amp;CK techniques &amp; threat actors.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2180" y="20848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52180" y="2084831"/>
            <a:ext cx="3472586" cy="100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89924" y="23408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Breach &amp; Attack 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8712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Would WAF / SIEM / EDR catch it? Flags control gaps.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4142231"/>
            <a:ext cx="3472586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3982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Assumed Breach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9286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Post-compromise value: escalation, lateral movement, persistence.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9554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59554" y="4142231"/>
            <a:ext cx="3472586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97298" y="43982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Blue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9286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Detection opportunities, log sources, hardening steps.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52180" y="4142231"/>
            <a:ext cx="3472586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52180" y="4142231"/>
            <a:ext cx="3472586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89924" y="4398263"/>
            <a:ext cx="228386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Purple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9924" y="4928615"/>
            <a:ext cx="3015386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Both sides: attack technique + the detection that should fire.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HOW THE SYSTEM ADAPTS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Skills — domain knowledge that activates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A1A1A"/>
                </a:solidFill>
                <a:latin typeface="Arial"/>
              </a:rPr>
              <a:t>A skill is a focused block of security guidance injected into AI prompts at scan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50292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Matched automatically by detected language &amp; framework — Django code pulls Django guidance, nothing irrelevant.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Ships with built-ins: Python secure coding, secrets triage, IaC hardening.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Toggle active / inactive per skill — every change is audit-logged.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SkillCreatorAgent writes brand-new skills at runtime for a domain you name.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1">
                <a:solidFill>
                  <a:srgbClr val="A100FF"/>
                </a:solidFill>
                <a:latin typeface="Arial"/>
              </a:rPr>
              <a:t>▸  </a:t>
            </a:r>
            <a:r>
              <a:rPr sz="1200">
                <a:solidFill>
                  <a:srgbClr val="666666"/>
                </a:solidFill>
                <a:latin typeface="Arial"/>
              </a:rPr>
              <a:t>Generated skills are usable immediately — the platform gets smarter as you use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1888" y="1737360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108192" y="1911096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08192" y="191109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A100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474847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Scan detects: Python + Django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0447" y="2441448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2670048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5A2BD9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08192" y="2843784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08192" y="284378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5A2BD9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70048"/>
            <a:ext cx="474847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Selector matches applicable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0447" y="3374136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1888" y="3602736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8EF0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108192" y="3776472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08192" y="377647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8EF0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602736"/>
            <a:ext cx="474847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Guidance injected into agent 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0447" y="4306824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1888" y="4535424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00B5A5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108192" y="4709160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08192" y="470916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B5A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535424"/>
            <a:ext cx="474847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Sharper triage, explanations &amp; fixes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10447" y="5239512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A100FF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61888" y="5468112"/>
            <a:ext cx="5662879" cy="74980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108192" y="5641848"/>
            <a:ext cx="402336" cy="4023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08192" y="5641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468112"/>
            <a:ext cx="474847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Missing a domain? Creator authors 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Govern &amp;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Predictable cost and audit-ready governance, by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COST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AI spend is a budget, not a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53003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EVERY AI CALL,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5740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329184" cy="329184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33856" y="2057400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Agent requests an AI 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34056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5800" y="2852928"/>
            <a:ext cx="329184" cy="329184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2734056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GovernanceGate checks the budget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5800" y="3529584"/>
            <a:ext cx="329184" cy="329184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3856" y="3410712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Routes to the cheapest viable model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87368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4206240"/>
            <a:ext cx="329184" cy="3291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33856" y="4087368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Within budget → call proceeds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64024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85800" y="4882896"/>
            <a:ext cx="329184" cy="329184"/>
          </a:xfrm>
          <a:prstGeom prst="ellipse">
            <a:avLst/>
          </a:prstGeom>
          <a:solidFill>
            <a:srgbClr val="FF5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33856" y="4764024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Over budget → blocked, steps skipped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40680"/>
            <a:ext cx="5300319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559552"/>
            <a:ext cx="329184" cy="329184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33856" y="5440680"/>
            <a:ext cx="456879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80" b="1" i="0">
                <a:solidFill>
                  <a:srgbClr val="1A1A1A"/>
                </a:solidFill>
                <a:latin typeface="Arial"/>
              </a:rPr>
              <a:t>Tokens + USD written to the cost ledger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1645920"/>
            <a:ext cx="53003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TIERED MODELS — RIGHT TOOL, RIGHT PRICE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2057400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24447" y="2057400"/>
            <a:ext cx="91440" cy="713232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0479" y="2148840"/>
            <a:ext cx="49345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0B5A5"/>
                </a:solidFill>
                <a:latin typeface="Arial"/>
              </a:rPr>
              <a:t>FAST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0479" y="2441448"/>
            <a:ext cx="48431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Haiku — cheap, high-volume work like explanations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4447" y="2898648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24447" y="2898648"/>
            <a:ext cx="91440" cy="713232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0479" y="2990088"/>
            <a:ext cx="49345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5A2BD9"/>
                </a:solidFill>
                <a:latin typeface="Arial"/>
              </a:rPr>
              <a:t>BALANCED tier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0479" y="3282696"/>
            <a:ext cx="48431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Sonnet — default for triage, fixes, patterns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24447" y="3739896"/>
            <a:ext cx="530031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24447" y="3739896"/>
            <a:ext cx="91440" cy="71323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80479" y="3831336"/>
            <a:ext cx="49345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A100FF"/>
                </a:solidFill>
                <a:latin typeface="Arial"/>
              </a:rPr>
              <a:t>TOP tier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0479" y="4123944"/>
            <a:ext cx="48431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6666"/>
                </a:solidFill>
                <a:latin typeface="Arial"/>
              </a:rPr>
              <a:t>Claude Opus — escalation when confidence is 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24447" y="4754880"/>
            <a:ext cx="5300319" cy="123444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80479" y="4901184"/>
            <a:ext cx="48431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37005C"/>
                </a:solidFill>
                <a:latin typeface="Arial"/>
              </a:rPr>
              <a:t>Per-scan + monthly limits, soft &amp; hard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0479" y="5285232"/>
            <a:ext cx="47973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Soft limit → live warning event at 80%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A100FF"/>
                </a:solidFill>
                <a:latin typeface="Arial"/>
              </a:rPr>
              <a:t>▸  </a:t>
            </a:r>
            <a:r>
              <a:rPr sz="1050">
                <a:solidFill>
                  <a:srgbClr val="666666"/>
                </a:solidFill>
                <a:latin typeface="Arial"/>
              </a:rPr>
              <a:t>Hard limit → stop spending, keep findings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GOVERNANCE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Built for audits, not bolted on 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68096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1576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Policy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172968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Thresholds on critical/high/risk score, blocked OWASP &amp; CWE. Pass/fail in CI via exit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60722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60722" y="199339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71576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Suppressions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0722" y="3172968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Rules by fingerprint, path glob, or rule ID — expirable, versioned, plus a .argusignore file.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783080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53348" y="200253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3348" y="1993392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3348" y="2715768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3172968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Every privileged action records actor, before, after, timestamp. Immutable and queryable.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68096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4251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74336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RBAC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431536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viewer · analyst · admin enforced per request. Orgs &amp; workspaces for multi-tenant access.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60722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60722" y="4251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0722" y="4974336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DAST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0722" y="5431536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Live-app scanners refuse to run without a valid, non-expired target authorization.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41648"/>
            <a:ext cx="3472586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353348" y="4261104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53348" y="4251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3348" y="4974336"/>
            <a:ext cx="30702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A1A1A"/>
                </a:solidFill>
                <a:latin typeface="Arial"/>
              </a:rPr>
              <a:t>Key &amp; secret hygiene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3348" y="5431536"/>
            <a:ext cx="3070250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API keys stored as SHA-256 hashes; secrets redacted before any log, prompt, or DB write.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Put It to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How an individual developer and a whole enterprise deploy Argus.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INDIVIDUAL DEVELOPER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Stay in flow — security in the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9808" y="1984248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8424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856232"/>
            <a:ext cx="43859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 &amp;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167128"/>
            <a:ext cx="438591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666666"/>
                </a:solidFill>
                <a:latin typeface="Courier New"/>
              </a:rPr>
              <a:t>docker compose up -d
</a:t>
            </a:r>
            <a:r>
              <a:rPr sz="950" b="0" i="0" dirty="0" err="1">
                <a:solidFill>
                  <a:srgbClr val="666666"/>
                </a:solidFill>
                <a:latin typeface="Courier New"/>
              </a:rPr>
              <a:t>uvicorn</a:t>
            </a:r>
            <a:r>
              <a:rPr sz="950" b="0" i="0" dirty="0">
                <a:solidFill>
                  <a:srgbClr val="666666"/>
                </a:solidFill>
                <a:latin typeface="Courier New"/>
              </a:rPr>
              <a:t> </a:t>
            </a:r>
            <a:r>
              <a:rPr sz="950" b="0" i="0" dirty="0" err="1">
                <a:solidFill>
                  <a:srgbClr val="666666"/>
                </a:solidFill>
                <a:latin typeface="Courier New"/>
              </a:rPr>
              <a:t>core.api.app:app</a:t>
            </a:r>
            <a:r>
              <a:rPr sz="950" b="0" i="0" dirty="0">
                <a:solidFill>
                  <a:srgbClr val="666666"/>
                </a:solidFill>
                <a:latin typeface="Courier New"/>
              </a:rPr>
              <a:t> --reload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49808" y="3063240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3063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35224"/>
            <a:ext cx="43859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Scan locally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3246120"/>
            <a:ext cx="438591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666666"/>
                </a:solidFill>
                <a:latin typeface="Courier New"/>
              </a:rPr>
              <a:t>POST /</a:t>
            </a:r>
            <a:r>
              <a:rPr sz="950" b="0" i="0" dirty="0" err="1">
                <a:solidFill>
                  <a:srgbClr val="666666"/>
                </a:solidFill>
                <a:latin typeface="Courier New"/>
              </a:rPr>
              <a:t>api</a:t>
            </a:r>
            <a:r>
              <a:rPr sz="950" b="0" i="0" dirty="0">
                <a:solidFill>
                  <a:srgbClr val="666666"/>
                </a:solidFill>
                <a:latin typeface="Courier New"/>
              </a:rPr>
              <a:t>/v1/scans
{ </a:t>
            </a:r>
            <a:r>
              <a:rPr sz="950" b="0" i="0" dirty="0" err="1">
                <a:solidFill>
                  <a:srgbClr val="666666"/>
                </a:solidFill>
                <a:latin typeface="Courier New"/>
              </a:rPr>
              <a:t>target_ref</a:t>
            </a:r>
            <a:r>
              <a:rPr sz="950" b="0" i="0" dirty="0">
                <a:solidFill>
                  <a:srgbClr val="666666"/>
                </a:solidFill>
                <a:latin typeface="Courier New"/>
              </a:rPr>
              <a:t>: "./my-app",
  </a:t>
            </a:r>
            <a:r>
              <a:rPr sz="950" b="0" i="0" dirty="0" err="1">
                <a:solidFill>
                  <a:srgbClr val="666666"/>
                </a:solidFill>
                <a:latin typeface="Courier New"/>
              </a:rPr>
              <a:t>pipeline_config_name</a:t>
            </a:r>
            <a:r>
              <a:rPr sz="950" b="0" i="0" dirty="0">
                <a:solidFill>
                  <a:srgbClr val="666666"/>
                </a:solidFill>
                <a:latin typeface="Courier New"/>
              </a:rPr>
              <a:t>: "real-time"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95344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49808" y="4142232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41422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4014216"/>
            <a:ext cx="43859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Review findings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325112"/>
            <a:ext cx="438591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GET /scans/{id}/findings?q=sql
Ranked, de-duped, explained in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74336"/>
            <a:ext cx="5300319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49808" y="5221224"/>
            <a:ext cx="457200" cy="457200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522122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5093208"/>
            <a:ext cx="438591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Apply the AI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5404104"/>
            <a:ext cx="438591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666666"/>
                </a:solidFill>
                <a:latin typeface="Courier New"/>
              </a:rPr>
              <a:t>POST /fixes/{id}/apply
Opens a PR with the diff + test.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24447" y="1737360"/>
            <a:ext cx="5300319" cy="420624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3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44487" y="2011680"/>
            <a:ext cx="640080" cy="64008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44487" y="2002536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6A00C9"/>
                </a:solidFill>
                <a:latin typeface="Arial"/>
              </a:rPr>
              <a:t>{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2788920"/>
            <a:ext cx="46602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VS Code Extension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3383280"/>
            <a:ext cx="46602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Inline finding highlights as you type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One-click AI fix application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Real-time diff-only scanning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Live cost budget in the status bar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ACBFF"/>
                </a:solidFill>
                <a:latin typeface="Arial"/>
              </a:rPr>
              <a:t>✓  </a:t>
            </a:r>
            <a:r>
              <a:rPr sz="1250">
                <a:solidFill>
                  <a:srgbClr val="FFFFFF"/>
                </a:solidFill>
                <a:latin typeface="Arial"/>
              </a:rPr>
              <a:t>Zero context-switching — never leave the editor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ENTERPRISE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Org-wide coverage with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04825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3" y="2093976"/>
            <a:ext cx="40658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CI/CD gating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3" y="2569464"/>
            <a:ext cx="406587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Webhooks scan every PR. ci-gate blocks merges that breach policy. Nightly cron scans the whole estate.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783080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80479" y="205740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0479" y="2048256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862" y="2093976"/>
            <a:ext cx="40658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Security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6862" y="2569464"/>
            <a:ext cx="406587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Orgs &amp; workspaces per team. Analysts triage, admins configure. Bulk-assign, suppress, and dismiss at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30682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9343" y="4352544"/>
            <a:ext cx="40658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Compliance &amp; reporting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9343" y="4828032"/>
            <a:ext cx="406587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OWASP / CWE reports, CycloneDX SBOM per scan, CSV export, and persisted policy evaluations for auditors.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4041648"/>
            <a:ext cx="5300319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580479" y="4315968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0479" y="4306824"/>
            <a:ext cx="603504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6862" y="4352544"/>
            <a:ext cx="40658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Observability &amp; SRE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862" y="4828032"/>
            <a:ext cx="4065879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666666"/>
                </a:solidFill>
                <a:latin typeface="Arial"/>
              </a:rPr>
              <a:t>Prometheus metrics, OpenTelemetry tracing, PagerDuty incidents, Jira tickets, Slack alerts — wired 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From clone to first finding in five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31520" y="1856232"/>
            <a:ext cx="438912" cy="438912"/>
          </a:xfrm>
          <a:prstGeom prst="ellipse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8562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737360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Prerequisites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1998744"/>
            <a:ext cx="749167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dirty="0">
                <a:solidFill>
                  <a:srgbClr val="666666"/>
                </a:solidFill>
                <a:latin typeface="Courier New"/>
              </a:rPr>
              <a:t>Python 3.12+ · Docker · </a:t>
            </a:r>
            <a:r>
              <a:rPr sz="1000" b="0" i="0" dirty="0" err="1">
                <a:solidFill>
                  <a:srgbClr val="666666"/>
                </a:solidFill>
                <a:latin typeface="Courier New"/>
              </a:rPr>
              <a:t>uv</a:t>
            </a:r>
            <a:r>
              <a:rPr sz="1000" b="0" i="0" dirty="0">
                <a:solidFill>
                  <a:srgbClr val="666666"/>
                </a:solidFill>
                <a:latin typeface="Courier New"/>
              </a:rPr>
              <a:t> · an </a:t>
            </a:r>
            <a:r>
              <a:rPr lang="en-US" sz="1000" b="0" i="0" dirty="0">
                <a:solidFill>
                  <a:srgbClr val="666666"/>
                </a:solidFill>
                <a:latin typeface="Courier New"/>
              </a:rPr>
              <a:t>&lt;LLM_PLATFORM&gt;</a:t>
            </a:r>
            <a:r>
              <a:rPr sz="1000" b="0" i="0" dirty="0">
                <a:solidFill>
                  <a:srgbClr val="666666"/>
                </a:solidFill>
                <a:latin typeface="Courier New"/>
              </a:rPr>
              <a:t>_API_KEY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0545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31520" y="2624328"/>
            <a:ext cx="438912" cy="438912"/>
          </a:xfrm>
          <a:prstGeom prst="ellipse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62432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505456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2505456"/>
            <a:ext cx="74916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git clone … &amp;&amp; cd argus  ·  uv venv &amp;&amp; uv pip install -e ".[dev]"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273552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3392424"/>
            <a:ext cx="438912" cy="438912"/>
          </a:xfrm>
          <a:prstGeom prst="ellipse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39242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273552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Start 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3273552"/>
            <a:ext cx="74916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docker compose up -d   (PostgreSQL + gateway)  ·  alembic upgrade head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41648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438912" cy="438912"/>
          </a:xfrm>
          <a:prstGeom prst="ellipse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041648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Run the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041648"/>
            <a:ext cx="74916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uvicorn core.api.app:app --reload --port 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9744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4928616"/>
            <a:ext cx="438912" cy="43891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92861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4168" y="4809744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First scan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208" y="4809744"/>
            <a:ext cx="74916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curl -X POST localhost:8000/api/v1/scans -d '{"target_ref":".","pipeline_config_name":"full-scan"}'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577840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7F4FC"/>
          </a:solidFill>
          <a:ln w="9525">
            <a:solidFill>
              <a:srgbClr val="E4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731520" y="5696712"/>
            <a:ext cx="438912" cy="438912"/>
          </a:xfrm>
          <a:prstGeom prst="ellipse">
            <a:avLst/>
          </a:prstGeom>
          <a:solidFill>
            <a:srgbClr val="6A0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569671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577840"/>
            <a:ext cx="24688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Arial"/>
              </a:rPr>
              <a:t>Explore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5577840"/>
            <a:ext cx="74916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666"/>
                </a:solidFill>
                <a:latin typeface="Courier New"/>
              </a:rPr>
              <a:t>Open localhost:8000/docs  →  interactive Swagger 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77824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78408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789920" y="1280160"/>
            <a:ext cx="2011680" cy="4206240"/>
          </a:xfrm>
          <a:prstGeom prst="chevron">
            <a:avLst/>
          </a:prstGeom>
          <a:solidFill>
            <a:srgbClr val="B855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20116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6C6FF"/>
                </a:solidFill>
                <a:latin typeface="Arial"/>
              </a:rPr>
              <a:t>ACT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22191"/>
            <a:ext cx="2194560" cy="3302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6CFFF"/>
                </a:solidFill>
                <a:latin typeface="Arial"/>
              </a:rPr>
              <a:t>Stack, delivery roadmap, and the business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D9BFF2"/>
                </a:solidFill>
                <a:latin typeface="Arial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Modern, typed, async,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929384"/>
            <a:ext cx="3472586" cy="23774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69164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Python 3.12 · FastAPI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Pydantic v2 (strict)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SQLAlchemy 2 async · asyncpg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Alembic migrations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A100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59554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59554" y="1929384"/>
            <a:ext cx="3472586" cy="23774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9010" y="169164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AI /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7298" y="231343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Anthropic Claude (3 tiers)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Provider-agnostic routing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GovernanceGate budgets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Per-scan token ledger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5A2BD9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Batch mode savings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69164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52180" y="169164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52180" y="1929384"/>
            <a:ext cx="3472586" cy="23774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1636" y="169164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Scanners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31343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Semgrep (SAST)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TruffleHog (secrets)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Grype (SCA)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Checkov (IaC)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B5A5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Nuclei + ZAP (DAST)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66928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4261104"/>
            <a:ext cx="3472586" cy="23774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" y="402336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64515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PostgreSQL 16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JSONB for findings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Cursor pagination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Full-text search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008EF0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CycloneDX SBOM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9554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359554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59554" y="4261104"/>
            <a:ext cx="3472586" cy="23774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9010" y="402336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7298" y="464515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Prometheus metrics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OpenTelemetry / OTLP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Server-Sent Events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Structured audit log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16A34A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structlog JSON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2180" y="4023360"/>
            <a:ext cx="3472586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152180" y="4023360"/>
            <a:ext cx="3472586" cy="475488"/>
          </a:xfrm>
          <a:prstGeom prst="roundRect">
            <a:avLst>
              <a:gd name="adj" fmla="val 8000"/>
            </a:avLst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152180" y="4261104"/>
            <a:ext cx="3472586" cy="237744"/>
          </a:xfrm>
          <a:prstGeom prst="rect">
            <a:avLst/>
          </a:prstGeom>
          <a:solidFill>
            <a:srgbClr val="E0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71636" y="4023360"/>
            <a:ext cx="310682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9924" y="4645152"/>
            <a:ext cx="301538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API-key auth (SHA-256)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RBAC roles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HMAC webhook verify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Rate limiting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80" b="1">
                <a:solidFill>
                  <a:srgbClr val="E03CFF"/>
                </a:solidFill>
                <a:latin typeface="Arial"/>
              </a:rPr>
              <a:t>▸  </a:t>
            </a:r>
            <a:r>
              <a:rPr sz="1080">
                <a:solidFill>
                  <a:srgbClr val="666666"/>
                </a:solidFill>
                <a:latin typeface="Arial"/>
              </a:rPr>
              <a:t>Secret redaction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566928" y="475488"/>
            <a:ext cx="182880" cy="182880"/>
          </a:xfrm>
          <a:prstGeom prst="chevron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100FF"/>
                </a:solidFill>
                <a:latin typeface="Arial"/>
              </a:rPr>
              <a:t>VALUE &amp;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A1A1A"/>
                </a:solidFill>
                <a:latin typeface="Arial"/>
              </a:rPr>
              <a:t>Better signal, lower cost, full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11057839" cy="1778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783080"/>
            <a:ext cx="2524429" cy="10058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34154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A100FF"/>
                </a:solidFill>
                <a:latin typeface="Arial"/>
              </a:rPr>
              <a:t>≈70%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834640"/>
            <a:ext cx="230497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less manual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200400"/>
            <a:ext cx="23049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dedup + AI filtering remove duplicate &amp; false-positive noise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139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11397" y="1783080"/>
            <a:ext cx="2524429" cy="100584"/>
          </a:xfrm>
          <a:prstGeom prst="rect">
            <a:avLst/>
          </a:prstGeom>
          <a:solidFill>
            <a:srgbClr val="5A2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837" y="2057400"/>
            <a:ext cx="234154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5A2BD9"/>
                </a:solidFill>
                <a:latin typeface="Arial"/>
              </a:rPr>
              <a:t>~$0.50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1125" y="2834640"/>
            <a:ext cx="230497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AI cost per full 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1125" y="3200400"/>
            <a:ext cx="23049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tiered models + hard budget gate keep spend predictable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586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55867" y="1783080"/>
            <a:ext cx="2524429" cy="100584"/>
          </a:xfrm>
          <a:prstGeom prst="rect">
            <a:avLst/>
          </a:prstGeom>
          <a:solidFill>
            <a:srgbClr val="00B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7307" y="2057400"/>
            <a:ext cx="234154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00B5A5"/>
                </a:solidFill>
                <a:latin typeface="Arial"/>
              </a:rPr>
              <a:t>&lt; 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5595" y="2834640"/>
            <a:ext cx="230497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to a diff-ready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5595" y="3200400"/>
            <a:ext cx="23049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for a confirmed high-severity finding, with a 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0337" y="1783080"/>
            <a:ext cx="2524429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00337" y="1783080"/>
            <a:ext cx="2524429" cy="100584"/>
          </a:xfrm>
          <a:prstGeom prst="rect">
            <a:avLst/>
          </a:prstGeom>
          <a:solidFill>
            <a:srgbClr val="008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91777" y="2057400"/>
            <a:ext cx="234154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008EF0"/>
                </a:solidFill>
                <a:latin typeface="Arial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0065" y="2834640"/>
            <a:ext cx="230497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of actions audited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0065" y="3200400"/>
            <a:ext cx="230497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80" b="0" i="0">
                <a:solidFill>
                  <a:srgbClr val="666666"/>
                </a:solidFill>
                <a:latin typeface="Arial"/>
              </a:rPr>
              <a:t>every suppression, policy, and fix is traceable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251960"/>
            <a:ext cx="11057839" cy="141732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6A00C9"/>
              </a:gs>
              <a:gs pos="55000">
                <a:srgbClr val="A100FF"/>
              </a:gs>
              <a:gs pos="100000">
                <a:srgbClr val="6A00C9"/>
              </a:gs>
            </a:gsLst>
            <a:lin ang="3000000" scaled="1"/>
          </a:gradFill>
          <a:ln>
            <a:noFill/>
          </a:ln>
          <a:effectLst>
            <a:outerShdw blurRad="95000" dist="38000" dir="5400000" rotWithShape="0">
              <a:srgbClr val="6A00C9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8" y="4251960"/>
            <a:ext cx="10143439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One platform replaces a fragmented toolchain — unifying detection, AI remediation, cost control, and governance so security scales with the business instead of fighting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37376"/>
            <a:ext cx="11057839" cy="11430"/>
          </a:xfrm>
          <a:prstGeom prst="rect">
            <a:avLst/>
          </a:prstGeom>
          <a:solidFill>
            <a:srgbClr val="E4E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A100FF"/>
                </a:solidFill>
                <a:latin typeface="Arial"/>
              </a:rPr>
              <a:t>ARGUS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C8C"/>
                </a:solidFill>
                <a:latin typeface="Arial"/>
              </a:rPr>
              <a:t>Adaptive AI Security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49224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Arial"/>
              </a:rPr>
              <a:t>25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7005C"/>
              </a:gs>
              <a:gs pos="55000">
                <a:srgbClr val="A100FF"/>
              </a:gs>
              <a:gs pos="100000">
                <a:srgbClr val="37005C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Chevron 2"/>
          <p:cNvSpPr/>
          <p:nvPr/>
        </p:nvSpPr>
        <p:spPr>
          <a:xfrm>
            <a:off x="886968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hevron 3"/>
          <p:cNvSpPr/>
          <p:nvPr/>
        </p:nvSpPr>
        <p:spPr>
          <a:xfrm>
            <a:off x="987552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Chevron 4"/>
          <p:cNvSpPr/>
          <p:nvPr/>
        </p:nvSpPr>
        <p:spPr>
          <a:xfrm>
            <a:off x="10881360" y="0"/>
            <a:ext cx="2377440" cy="6858000"/>
          </a:xfrm>
          <a:prstGeom prst="chevron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hevron 5"/>
          <p:cNvSpPr/>
          <p:nvPr/>
        </p:nvSpPr>
        <p:spPr>
          <a:xfrm>
            <a:off x="566928" y="1874519"/>
            <a:ext cx="457200" cy="457200"/>
          </a:xfrm>
          <a:prstGeom prst="chevron">
            <a:avLst/>
          </a:prstGeom>
          <a:solidFill>
            <a:srgbClr val="D9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2377440"/>
            <a:ext cx="9144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800" b="1" i="0">
                <a:solidFill>
                  <a:srgbClr val="FFFFFF"/>
                </a:solidFill>
                <a:latin typeface="Arial"/>
              </a:rPr>
              <a:t>ARGUS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" y="3657600"/>
            <a:ext cx="2377440" cy="50800"/>
          </a:xfrm>
          <a:prstGeom prst="rect">
            <a:avLst/>
          </a:prstGeom>
          <a:solidFill>
            <a:srgbClr val="CE8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Find faster. Understand deeper. Fix smarter. Spend less.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7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E6CFFF"/>
                </a:solidFill>
                <a:latin typeface="Arial"/>
              </a:rPr>
              <a:t>Provider-agnostic  ·  cost-aware  ·  enterprise-ready security, powered by AI.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521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AD4FF"/>
                </a:solidFill>
                <a:latin typeface="Arial"/>
              </a:rPr>
              <a:t>github.com/ahujrajat/Argus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8687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D9BFF2"/>
                </a:solidFill>
                <a:latin typeface="Arial"/>
              </a:rPr>
              <a:t>Built by Rajat Ahuja · Accenture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2562</Words>
  <Application>Microsoft Macintosh PowerPoint</Application>
  <PresentationFormat>Widescreen</PresentationFormat>
  <Paragraphs>437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Ahuja, Rajat</cp:lastModifiedBy>
  <cp:revision>2</cp:revision>
  <dcterms:created xsi:type="dcterms:W3CDTF">2013-01-27T09:14:16Z</dcterms:created>
  <dcterms:modified xsi:type="dcterms:W3CDTF">2026-06-19T05:05:59Z</dcterms:modified>
  <cp:category/>
</cp:coreProperties>
</file>